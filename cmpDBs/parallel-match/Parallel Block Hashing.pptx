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deck: describe the method on its own, check that it works, and only then compare it with the current table-diff. Adoption is a later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in short. Every instance gives N connections; N is computed once and is the same everywhere (in practice the minimum over instances). On every instance one connection exports a snapshot and keeps its transaction open until the end; all other connections of that instance import it. Work is split in two levels: bins (K ≥ 1 ranges of the key space from any source: a histogram, a sample, a ready map, or one bin for everything) and blocks (block_size rows inside a bin, cut on the anchor by an index walk). Slicers take bins from a bin queue and put blocks into one shared block queue; a block is named by (bin, seq) and carries start, end and a last flag. Workers take any block, hash it on every instance in parallel, compare the hashes and write a diff file only on mismatch. A slicer with no bins left opens connections to the other instances, imports their snapshots and becomes a worker; if that fails, it stops. At the end the merger checks coverage and joins the files in (bin, seq) order. The client never compares key values: order comes from (bin, seq), and key values are passed back to the server as query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the bin source fills the bin queue. The source does not matter to the method: a histogram, a sample, a ready map of ranges, or one bin for the whole key space. Slicers (orange) take bins and cut them on the anchor instance by an index walk; each block goes to one shared block queue with its name (bin, seq), its bounds and a last flag. Workers (blue) take any block, hash it on every instance in parallel inside that instance's snapshot, and compare. A match only marks (bin, seq) as done; a mismatch writes one file named bin-X-block-Y. When the bin queue is empty, a slicer opens connections to the other instances, imports their snapshots and becomes a worker (dashed orange path); if it cannot get the connections, it stops. Bottom row: the anchor exports its snapshot and runs S slicers plus N − S workers; other instances run N − S workers at first and up to N after the switch. The merger checks coverage and joins the files in (bin, seq)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the parts and blocks are built from keys that the server returns in index order, so they have no gaps or overlaps by construction. One snapshot per instance turns key-space coverage into row coverage. The cheap check is that the hash query also returns the row count, and the sum over blocks equals the row count of the snapshot. Order: the client never orders keys; bins are numbered in key order at planning time and seq grows inside a bin. Memory: the queue holds two keys per block; key width comes from avg_width in pg_stats for the key columns. The client keeps its own representation of values, so expect a factor of two or three over raw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classes of errors. An error of one query does not lose the snapshot: the worker starts a new transaction, imports the same snapshot again and repeats the block, so consistency is kept and the normal path has no extra cost. Loss of the exporting session or of an instance loses the snapshot; then the run is aborted and started again from zero. This is a deliberate choice for plain table comparison: a run takes minutes, so a restart is cheap, and a result built from different snapshots cannot be interpreted on live data. Resume belongs to long-lived structures such as a Merkle tree, not to this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table-diff on main. The anchor is the node with the largest row estimate. Parts come from the histogram of the leading key column, or from a TABLESAMPLE when there is no histogram or a table filter is set. Cutters (about H/4) walk the parts; every chunk is its own short REPEATABLE READ transaction, so the cut does not hold back vacuum. Blocks go to a bounded channel with the name (part, seq); a dispatcher turns each block into one hash task per node. H hash workers (client CPUs × concurrency_factor, one semaphore for all nodes) run each hash query in its own snapshot with a 60-second limit. All hashes are kept in a results map; comparison starts only after every block is hashed on every node. Mismatched blocks are narrowed further, and the diff rows stay in memory until the report is written at the end. The pool of each node has room for H plus the cutters; when the cut ends, the cutter connections are not used again. Coverage holds by construction of key ranges, but no step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discussion only four negatives remain, and none of them is a blocker. The vacuum horizon is held for minutes, as pg_dump does for hours. Per-block synchronisation across instances costs the difference between the sum over blocks of the slowest instance and the largest per-instance total; it is small when replicas are alike. A window of k·N blocks between the instances would remove most of it with bounded memory (k = 1 is this method, k = infinity is main); log the per-block hash time on every instance first to see the possible gain. One bin means one slicer in both designs. Many files were accepted. Items that looked negative but are not worse than main: a restart from zero on snapshot loss (main has no resume and stops on any hash error), the same N on every instance (main sizes every pool the same), and memory (main keeps the list of blocks and the map of hashes until the barrier). Open questions: the speed limit of one slicer (measure on a table with more than 100M rows); the format of the block report; snapshots of different instances are not consistent with each other, so on live data the diff shows the difference between snapshots; can the same slicer feed pgcmp for a non-trivial primary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812788"/>
            <a:ext cx="10566390" cy="419093"/>
          </a:xfrm>
          <a:prstGeom prst="rect">
            <a:avLst/>
          </a:prstGeom>
          <a:noFill/>
          <a:ln/>
        </p:spPr>
        <p:txBody>
          <a:bodyPr wrap="square" lIns="0" tIns="0" rIns="0" bIns="0" rtlCol="0" anchor="t"/>
          <a:lstStyle>
            <a:lvl1pPr algn="l" indent="0" marL="0">
              <a:lnSpc>
                <a:spcPct val="115000"/>
              </a:lnSpc>
              <a:buNone/>
              <a:defRPr lang="en-US" sz="3000" dirty="0">
                <a:solidFill>
                  <a:srgbClr val="1D27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88" y="1536681"/>
            <a:ext cx="10566412" cy="4508519"/>
          </a:xfrm>
          <a:prstGeom prst="rect">
            <a:avLst/>
          </a:prstGeom>
          <a:noFill/>
          <a:ln/>
        </p:spPr>
        <p:txBody>
          <a:bodyPr wrap="square" lIns="0" tIns="0" rIns="0" bIns="0" rtlCol="0" anchor="t"/>
          <a:lstStyle>
            <a:lvl1pPr algn="l" indent="0" marL="0">
              <a:lnSpc>
                <a:spcPct val="140000"/>
              </a:lnSpc>
              <a:buNone/>
              <a:defRPr lang="en-US" sz="1600" dirty="0">
                <a:solidFill>
                  <a:srgbClr val="1D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4E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88" y="812788"/>
            <a:ext cx="10566390" cy="419093"/>
          </a:xfrm>
          <a:prstGeom prst="rect">
            <a:avLst/>
          </a:prstGeom>
          <a:noFill/>
          <a:ln/>
        </p:spPr>
        <p:txBody>
          <a:bodyPr wrap="square" lIns="0" tIns="0" rIns="0" bIns="0" rtlCol="0" anchor="t"/>
          <a:lstStyle>
            <a:lvl1pPr algn="l" indent="0" marL="0">
              <a:lnSpc>
                <a:spcPct val="115000"/>
              </a:lnSpc>
              <a:buNone/>
              <a:defRPr lang="en-US" sz="3000" dirty="0">
                <a:solidFill>
                  <a:srgbClr val="1D2733"/>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788" y="1536681"/>
            <a:ext cx="10566412" cy="4508519"/>
          </a:xfrm>
          <a:prstGeom prst="rect">
            <a:avLst/>
          </a:prstGeom>
          <a:noFill/>
          <a:ln/>
        </p:spPr>
        <p:txBody>
          <a:bodyPr wrap="square" lIns="0" tIns="0" rIns="0" bIns="0" rtlCol="0" anchor="t"/>
          <a:lstStyle>
            <a:lvl1pPr algn="l" indent="0" marL="0">
              <a:lnSpc>
                <a:spcPct val="140000"/>
              </a:lnSpc>
              <a:buNone/>
              <a:defRPr lang="en-US" sz="1600" dirty="0">
                <a:solidFill>
                  <a:srgbClr val="1D273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2733"/>
        </a:solidFill>
      </p:bgPr>
    </p:bg>
    <p:spTree>
      <p:nvGrpSpPr>
        <p:cNvPr id="1" name=""/>
        <p:cNvGrpSpPr/>
        <p:nvPr/>
      </p:nvGrpSpPr>
      <p:grpSpPr>
        <a:xfrm>
          <a:off x="0" y="0"/>
          <a:ext cx="0" cy="0"/>
          <a:chOff x="0" y="0"/>
          <a:chExt cx="0" cy="0"/>
        </a:xfrm>
      </p:grpSpPr>
      <p:sp>
        <p:nvSpPr>
          <p:cNvPr id="2" name="Text 0"/>
          <p:cNvSpPr/>
          <p:nvPr>
            <p:ph type="title"/>
          </p:nvPr>
        </p:nvSpPr>
        <p:spPr>
          <a:xfrm>
            <a:off x="812788" y="2538787"/>
            <a:ext cx="10883382" cy="718781"/>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5F4EF"/>
                </a:solidFill>
                <a:latin typeface="IBM Plex Sans" pitchFamily="34" charset="0"/>
                <a:ea typeface="IBM Plex Sans" pitchFamily="34" charset="-122"/>
                <a:cs typeface="IBM Plex Sans" pitchFamily="34" charset="-120"/>
              </a:rPr>
              <a:t>Parallel block hashing</a:t>
            </a:r>
            <a:endParaRPr lang="en-US" sz="5200" dirty="0"/>
          </a:p>
        </p:txBody>
      </p:sp>
      <p:sp>
        <p:nvSpPr>
          <p:cNvPr id="3" name="Text 1"/>
          <p:cNvSpPr/>
          <p:nvPr/>
        </p:nvSpPr>
        <p:spPr>
          <a:xfrm>
            <a:off x="812788" y="3486152"/>
            <a:ext cx="10883382" cy="35558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DE"/>
                </a:solidFill>
                <a:latin typeface="IBM Plex Sans" pitchFamily="34" charset="0"/>
                <a:ea typeface="IBM Plex Sans" pitchFamily="34" charset="-122"/>
                <a:cs typeface="IBM Plex Sans" pitchFamily="34" charset="-120"/>
              </a:rPr>
              <a:t>A clean method to compare one table across several instances</a:t>
            </a:r>
            <a:endParaRPr lang="en-US" sz="2000" dirty="0"/>
          </a:p>
        </p:txBody>
      </p:sp>
      <p:sp>
        <p:nvSpPr>
          <p:cNvPr id="4" name="Text 2"/>
          <p:cNvSpPr/>
          <p:nvPr/>
        </p:nvSpPr>
        <p:spPr>
          <a:xfrm>
            <a:off x="812788" y="4070316"/>
            <a:ext cx="1088338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A066"/>
                </a:solidFill>
                <a:latin typeface="IBM Plex Sans" pitchFamily="34" charset="0"/>
                <a:ea typeface="IBM Plex Sans" pitchFamily="34" charset="-122"/>
                <a:cs typeface="IBM Plex Sans" pitchFamily="34" charset="-120"/>
              </a:rPr>
              <a:t>Method · architecture · current solution · trade-offs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The method: assumptions and roles</a:t>
            </a:r>
            <a:endParaRPr lang="en-US" sz="3000" dirty="0"/>
          </a:p>
        </p:txBody>
      </p:sp>
      <p:sp>
        <p:nvSpPr>
          <p:cNvPr id="3" name="Shape 1"/>
          <p:cNvSpPr/>
          <p:nvPr/>
        </p:nvSpPr>
        <p:spPr>
          <a:xfrm>
            <a:off x="819138" y="1492215"/>
            <a:ext cx="5118085" cy="4546640"/>
          </a:xfrm>
          <a:prstGeom prst="roundRect">
            <a:avLst>
              <a:gd name="adj" fmla="val 2095"/>
            </a:avLst>
          </a:prstGeom>
          <a:solidFill>
            <a:srgbClr val="FFFFFF"/>
          </a:solidFill>
          <a:ln w="12700">
            <a:solidFill>
              <a:srgbClr val="CFD6DE"/>
            </a:solidFill>
            <a:prstDash val="solid"/>
          </a:ln>
        </p:spPr>
      </p:sp>
      <p:sp>
        <p:nvSpPr>
          <p:cNvPr id="4" name="Text 2"/>
          <p:cNvSpPr/>
          <p:nvPr/>
        </p:nvSpPr>
        <p:spPr>
          <a:xfrm>
            <a:off x="1078848" y="1751926"/>
            <a:ext cx="473662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2A8"/>
                </a:solidFill>
                <a:latin typeface="IBM Plex Sans" pitchFamily="34" charset="0"/>
                <a:ea typeface="IBM Plex Sans" pitchFamily="34" charset="-122"/>
                <a:cs typeface="IBM Plex Sans" pitchFamily="34" charset="-120"/>
              </a:rPr>
              <a:t>Assumptions</a:t>
            </a:r>
            <a:endParaRPr lang="en-US" sz="1600" dirty="0"/>
          </a:p>
        </p:txBody>
      </p:sp>
      <p:sp>
        <p:nvSpPr>
          <p:cNvPr id="5" name="Text 3"/>
          <p:cNvSpPr/>
          <p:nvPr/>
        </p:nvSpPr>
        <p:spPr>
          <a:xfrm>
            <a:off x="1164192" y="2122712"/>
            <a:ext cx="4643660" cy="210577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N connections per instance</a:t>
            </a:r>
            <a:r>
              <a:rPr lang="en-US" sz="1300" dirty="0">
                <a:solidFill>
                  <a:srgbClr val="1D2733"/>
                </a:solidFill>
                <a:latin typeface="IBM Plex Sans" pitchFamily="34" charset="0"/>
                <a:ea typeface="IBM Plex Sans" pitchFamily="34" charset="-122"/>
                <a:cs typeface="IBM Plex Sans" pitchFamily="34" charset="-120"/>
              </a:rPr>
              <a:t>, computed once, the same on every instance. N = 1: one worker cuts and hashes in turn. N = 0: the run does not start.</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One snapshot per instance.</a:t>
            </a:r>
            <a:r>
              <a:rPr lang="en-US" sz="1300" dirty="0">
                <a:solidFill>
                  <a:srgbClr val="1D2733"/>
                </a:solidFill>
                <a:latin typeface="IBM Plex Sans" pitchFamily="34" charset="0"/>
                <a:ea typeface="IBM Plex Sans" pitchFamily="34" charset="-122"/>
                <a:cs typeface="IBM Plex Sans" pitchFamily="34" charset="-120"/>
              </a:rPr>
              <a:t> It is exported once and imported by every connection of that instance.</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The key is an opaque value.</a:t>
            </a:r>
            <a:r>
              <a:rPr lang="en-US" sz="1300" dirty="0">
                <a:solidFill>
                  <a:srgbClr val="1D2733"/>
                </a:solidFill>
                <a:latin typeface="IBM Plex Sans" pitchFamily="34" charset="0"/>
                <a:ea typeface="IBM Plex Sans" pitchFamily="34" charset="-122"/>
                <a:cs typeface="IBM Plex Sans" pitchFamily="34" charset="-120"/>
              </a:rPr>
              <a:t> The client never compares keys with &lt; or &gt;.</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Bins</a:t>
            </a:r>
            <a:r>
              <a:rPr lang="en-US" sz="1300" dirty="0">
                <a:solidFill>
                  <a:srgbClr val="1D2733"/>
                </a:solidFill>
                <a:latin typeface="IBM Plex Sans" pitchFamily="34" charset="0"/>
                <a:ea typeface="IBM Plex Sans" pitchFamily="34" charset="-122"/>
                <a:cs typeface="IBM Plex Sans" pitchFamily="34" charset="-120"/>
              </a:rPr>
              <a:t> are K ≥ 1 ranges of the key space. Their source does not matter to the method.</a:t>
            </a:r>
            <a:endParaRPr lang="en-US" sz="1300" dirty="0"/>
          </a:p>
        </p:txBody>
      </p:sp>
      <p:sp>
        <p:nvSpPr>
          <p:cNvPr id="6" name="Shape 4"/>
          <p:cNvSpPr/>
          <p:nvPr/>
        </p:nvSpPr>
        <p:spPr>
          <a:xfrm>
            <a:off x="6254704" y="1492215"/>
            <a:ext cx="5118123" cy="4546640"/>
          </a:xfrm>
          <a:prstGeom prst="roundRect">
            <a:avLst>
              <a:gd name="adj" fmla="val 2095"/>
            </a:avLst>
          </a:prstGeom>
          <a:solidFill>
            <a:srgbClr val="FFFFFF"/>
          </a:solidFill>
          <a:ln w="12700">
            <a:solidFill>
              <a:srgbClr val="CFD6DE"/>
            </a:solidFill>
            <a:prstDash val="solid"/>
          </a:ln>
        </p:spPr>
      </p:sp>
      <p:sp>
        <p:nvSpPr>
          <p:cNvPr id="7" name="Text 5"/>
          <p:cNvSpPr/>
          <p:nvPr/>
        </p:nvSpPr>
        <p:spPr>
          <a:xfrm>
            <a:off x="6514415" y="1751926"/>
            <a:ext cx="4736663"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2A8"/>
                </a:solidFill>
                <a:latin typeface="IBM Plex Sans" pitchFamily="34" charset="0"/>
                <a:ea typeface="IBM Plex Sans" pitchFamily="34" charset="-122"/>
                <a:cs typeface="IBM Plex Sans" pitchFamily="34" charset="-120"/>
              </a:rPr>
              <a:t>Roles</a:t>
            </a:r>
            <a:endParaRPr lang="en-US" sz="1600" dirty="0"/>
          </a:p>
        </p:txBody>
      </p:sp>
      <p:sp>
        <p:nvSpPr>
          <p:cNvPr id="8" name="Text 6"/>
          <p:cNvSpPr/>
          <p:nvPr/>
        </p:nvSpPr>
        <p:spPr>
          <a:xfrm>
            <a:off x="6599759" y="2122712"/>
            <a:ext cx="4643699" cy="2105770"/>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Slicer</a:t>
            </a:r>
            <a:r>
              <a:rPr lang="en-US" sz="1300" dirty="0">
                <a:solidFill>
                  <a:srgbClr val="1D2733"/>
                </a:solidFill>
                <a:latin typeface="IBM Plex Sans" pitchFamily="34" charset="0"/>
                <a:ea typeface="IBM Plex Sans" pitchFamily="34" charset="-122"/>
                <a:cs typeface="IBM Plex Sans" pitchFamily="34" charset="-120"/>
              </a:rPr>
              <a:t> walks one bin on the anchor by the index and starts a new block every block_size rows.</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Worker</a:t>
            </a:r>
            <a:r>
              <a:rPr lang="en-US" sz="1300" dirty="0">
                <a:solidFill>
                  <a:srgbClr val="1D2733"/>
                </a:solidFill>
                <a:latin typeface="IBM Plex Sans" pitchFamily="34" charset="0"/>
                <a:ea typeface="IBM Plex Sans" pitchFamily="34" charset="-122"/>
                <a:cs typeface="IBM Plex Sans" pitchFamily="34" charset="-120"/>
              </a:rPr>
              <a:t> takes a block, hashes it on every instance, compares the hashes. On mismatch it writes the file bin-X-block-Y.</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Merger</a:t>
            </a:r>
            <a:r>
              <a:rPr lang="en-US" sz="1300" dirty="0">
                <a:solidFill>
                  <a:srgbClr val="1D2733"/>
                </a:solidFill>
                <a:latin typeface="IBM Plex Sans" pitchFamily="34" charset="0"/>
                <a:ea typeface="IBM Plex Sans" pitchFamily="34" charset="-122"/>
                <a:cs typeface="IBM Plex Sans" pitchFamily="34" charset="-120"/>
              </a:rPr>
              <a:t> checks coverage and joins the files in (bin, seq) order.</a:t>
            </a:r>
            <a:endParaRPr lang="en-US" sz="1300" dirty="0"/>
          </a:p>
          <a:p>
            <a:pPr algn="l" marL="168656" indent="-168656">
              <a:lnSpc>
                <a:spcPts val="1820"/>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Start:</a:t>
            </a:r>
            <a:r>
              <a:rPr lang="en-US" sz="1300" dirty="0">
                <a:solidFill>
                  <a:srgbClr val="1D2733"/>
                </a:solidFill>
                <a:latin typeface="IBM Plex Sans" pitchFamily="34" charset="0"/>
                <a:ea typeface="IBM Plex Sans" pitchFamily="34" charset="-122"/>
                <a:cs typeface="IBM Plex Sans" pitchFamily="34" charset="-120"/>
              </a:rPr>
              <a:t> S = min(K, N / 4) slicers; one bin means one slicer. A slicer with no bins left becomes a worker.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Proposed architecture</a:t>
            </a:r>
            <a:endParaRPr lang="en-US" sz="3000" dirty="0"/>
          </a:p>
        </p:txBody>
      </p:sp>
      <p:sp>
        <p:nvSpPr>
          <p:cNvPr id="3" name="Shape 1"/>
          <p:cNvSpPr/>
          <p:nvPr/>
        </p:nvSpPr>
        <p:spPr>
          <a:xfrm>
            <a:off x="819138" y="1492214"/>
            <a:ext cx="1765266" cy="1193782"/>
          </a:xfrm>
          <a:prstGeom prst="roundRect">
            <a:avLst>
              <a:gd name="adj" fmla="val 5851"/>
            </a:avLst>
          </a:prstGeom>
          <a:solidFill>
            <a:srgbClr val="FFFFFF"/>
          </a:solidFill>
          <a:ln w="12700">
            <a:solidFill>
              <a:srgbClr val="CFD6DE"/>
            </a:solidFill>
            <a:prstDash val="solid"/>
          </a:ln>
        </p:spPr>
      </p:sp>
      <p:sp>
        <p:nvSpPr>
          <p:cNvPr id="4" name="Text 2"/>
          <p:cNvSpPr/>
          <p:nvPr/>
        </p:nvSpPr>
        <p:spPr>
          <a:xfrm>
            <a:off x="951856" y="1586816"/>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Bin source</a:t>
            </a:r>
            <a:endParaRPr lang="en-US" sz="1400" dirty="0"/>
          </a:p>
        </p:txBody>
      </p:sp>
      <p:sp>
        <p:nvSpPr>
          <p:cNvPr id="5" name="Text 3"/>
          <p:cNvSpPr/>
          <p:nvPr/>
        </p:nvSpPr>
        <p:spPr>
          <a:xfrm>
            <a:off x="951856" y="1850954"/>
            <a:ext cx="1550628"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any split of the key space into K ≥ 1 bins</a:t>
            </a:r>
            <a:endParaRPr lang="en-US" sz="1200" dirty="0"/>
          </a:p>
        </p:txBody>
      </p:sp>
      <p:sp>
        <p:nvSpPr>
          <p:cNvPr id="6" name="Shape 4"/>
          <p:cNvSpPr/>
          <p:nvPr/>
        </p:nvSpPr>
        <p:spPr>
          <a:xfrm>
            <a:off x="3003516" y="1492214"/>
            <a:ext cx="1511281" cy="1193782"/>
          </a:xfrm>
          <a:prstGeom prst="roundRect">
            <a:avLst>
              <a:gd name="adj" fmla="val 5851"/>
            </a:avLst>
          </a:prstGeom>
          <a:solidFill>
            <a:srgbClr val="E9EEF4"/>
          </a:solidFill>
          <a:ln w="12700">
            <a:solidFill>
              <a:srgbClr val="8A99AA"/>
            </a:solidFill>
            <a:prstDash val="dash"/>
          </a:ln>
        </p:spPr>
      </p:sp>
      <p:sp>
        <p:nvSpPr>
          <p:cNvPr id="7" name="Text 5"/>
          <p:cNvSpPr/>
          <p:nvPr/>
        </p:nvSpPr>
        <p:spPr>
          <a:xfrm>
            <a:off x="3136235" y="1586816"/>
            <a:ext cx="1296644"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Bin queue</a:t>
            </a:r>
            <a:endParaRPr lang="en-US" sz="1400" dirty="0"/>
          </a:p>
        </p:txBody>
      </p:sp>
      <p:sp>
        <p:nvSpPr>
          <p:cNvPr id="8" name="Text 6"/>
          <p:cNvSpPr/>
          <p:nvPr/>
        </p:nvSpPr>
        <p:spPr>
          <a:xfrm>
            <a:off x="3136235" y="1850954"/>
            <a:ext cx="1296644" cy="22349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bins not yet cut</a:t>
            </a:r>
            <a:endParaRPr lang="en-US" sz="1200" dirty="0"/>
          </a:p>
        </p:txBody>
      </p:sp>
      <p:sp>
        <p:nvSpPr>
          <p:cNvPr id="9" name="Shape 7"/>
          <p:cNvSpPr/>
          <p:nvPr/>
        </p:nvSpPr>
        <p:spPr>
          <a:xfrm>
            <a:off x="4937085" y="1495389"/>
            <a:ext cx="1758916" cy="1187432"/>
          </a:xfrm>
          <a:prstGeom prst="roundRect">
            <a:avLst>
              <a:gd name="adj" fmla="val 5615"/>
            </a:avLst>
          </a:prstGeom>
          <a:solidFill>
            <a:srgbClr val="FFFFFF"/>
          </a:solidFill>
          <a:ln w="19050">
            <a:solidFill>
              <a:srgbClr val="C4651A"/>
            </a:solidFill>
            <a:prstDash val="solid"/>
          </a:ln>
        </p:spPr>
      </p:sp>
      <p:sp>
        <p:nvSpPr>
          <p:cNvPr id="10" name="Text 8"/>
          <p:cNvSpPr/>
          <p:nvPr/>
        </p:nvSpPr>
        <p:spPr>
          <a:xfrm>
            <a:off x="5071459" y="1591647"/>
            <a:ext cx="154096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Slicers × S</a:t>
            </a:r>
            <a:endParaRPr lang="en-US" sz="1400" dirty="0"/>
          </a:p>
        </p:txBody>
      </p:sp>
      <p:sp>
        <p:nvSpPr>
          <p:cNvPr id="11" name="Text 9"/>
          <p:cNvSpPr/>
          <p:nvPr/>
        </p:nvSpPr>
        <p:spPr>
          <a:xfrm>
            <a:off x="5071459" y="1855784"/>
            <a:ext cx="1540967"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anchor only; a new block every block_size rows</a:t>
            </a:r>
            <a:endParaRPr lang="en-US" sz="1200" dirty="0"/>
          </a:p>
        </p:txBody>
      </p:sp>
      <p:sp>
        <p:nvSpPr>
          <p:cNvPr id="12" name="Shape 10"/>
          <p:cNvSpPr/>
          <p:nvPr/>
        </p:nvSpPr>
        <p:spPr>
          <a:xfrm>
            <a:off x="7118327" y="1492214"/>
            <a:ext cx="1765266" cy="1193782"/>
          </a:xfrm>
          <a:prstGeom prst="roundRect">
            <a:avLst>
              <a:gd name="adj" fmla="val 5851"/>
            </a:avLst>
          </a:prstGeom>
          <a:solidFill>
            <a:srgbClr val="E9EEF4"/>
          </a:solidFill>
          <a:ln w="12700">
            <a:solidFill>
              <a:srgbClr val="8A99AA"/>
            </a:solidFill>
            <a:prstDash val="dash"/>
          </a:ln>
        </p:spPr>
      </p:sp>
      <p:sp>
        <p:nvSpPr>
          <p:cNvPr id="13" name="Text 11"/>
          <p:cNvSpPr/>
          <p:nvPr/>
        </p:nvSpPr>
        <p:spPr>
          <a:xfrm>
            <a:off x="7251045" y="1586816"/>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Block queue</a:t>
            </a:r>
            <a:endParaRPr lang="en-US" sz="1400" dirty="0"/>
          </a:p>
        </p:txBody>
      </p:sp>
      <p:sp>
        <p:nvSpPr>
          <p:cNvPr id="14" name="Text 12"/>
          <p:cNvSpPr/>
          <p:nvPr/>
        </p:nvSpPr>
        <p:spPr>
          <a:xfrm>
            <a:off x="7251045" y="1850954"/>
            <a:ext cx="1550628"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(bin, seq, start, end, last)</a:t>
            </a:r>
            <a:endParaRPr lang="en-US" sz="1200" dirty="0"/>
          </a:p>
        </p:txBody>
      </p:sp>
      <p:sp>
        <p:nvSpPr>
          <p:cNvPr id="15" name="Shape 13"/>
          <p:cNvSpPr/>
          <p:nvPr/>
        </p:nvSpPr>
        <p:spPr>
          <a:xfrm>
            <a:off x="9305880" y="1495389"/>
            <a:ext cx="2063735" cy="1187432"/>
          </a:xfrm>
          <a:prstGeom prst="roundRect">
            <a:avLst>
              <a:gd name="adj" fmla="val 5615"/>
            </a:avLst>
          </a:prstGeom>
          <a:solidFill>
            <a:srgbClr val="FFFFFF"/>
          </a:solidFill>
          <a:ln w="19050">
            <a:solidFill>
              <a:srgbClr val="2A62A8"/>
            </a:solidFill>
            <a:prstDash val="solid"/>
          </a:ln>
        </p:spPr>
      </p:sp>
      <p:sp>
        <p:nvSpPr>
          <p:cNvPr id="16" name="Text 14"/>
          <p:cNvSpPr/>
          <p:nvPr/>
        </p:nvSpPr>
        <p:spPr>
          <a:xfrm>
            <a:off x="9440254" y="1591647"/>
            <a:ext cx="1848836"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Workers × (N − S)</a:t>
            </a:r>
            <a:endParaRPr lang="en-US" sz="1400" dirty="0"/>
          </a:p>
        </p:txBody>
      </p:sp>
      <p:sp>
        <p:nvSpPr>
          <p:cNvPr id="17" name="Text 15"/>
          <p:cNvSpPr/>
          <p:nvPr/>
        </p:nvSpPr>
        <p:spPr>
          <a:xfrm>
            <a:off x="9440254" y="1855784"/>
            <a:ext cx="1848836"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hash a block on every instance, compare</a:t>
            </a:r>
            <a:endParaRPr lang="en-US" sz="1200" dirty="0"/>
          </a:p>
        </p:txBody>
      </p:sp>
      <p:sp>
        <p:nvSpPr>
          <p:cNvPr id="18" name="Text 16"/>
          <p:cNvSpPr/>
          <p:nvPr/>
        </p:nvSpPr>
        <p:spPr>
          <a:xfrm>
            <a:off x="812788" y="3390860"/>
            <a:ext cx="381965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672"/>
                </a:solidFill>
                <a:latin typeface="IBM Plex Sans" pitchFamily="34" charset="0"/>
                <a:ea typeface="IBM Plex Sans" pitchFamily="34" charset="-122"/>
                <a:cs typeface="IBM Plex Sans" pitchFamily="34" charset="-120"/>
              </a:rPr>
              <a:t>Keys are opaque values: no &lt; or &gt; on the client. Order comes from (bin, seq). The first block has an open start, the last one an open end.</a:t>
            </a:r>
            <a:endParaRPr lang="en-US" sz="1300" dirty="0"/>
          </a:p>
        </p:txBody>
      </p:sp>
      <p:sp>
        <p:nvSpPr>
          <p:cNvPr id="19" name="Shape 17"/>
          <p:cNvSpPr/>
          <p:nvPr/>
        </p:nvSpPr>
        <p:spPr>
          <a:xfrm>
            <a:off x="4933910" y="3270180"/>
            <a:ext cx="2171678" cy="1193782"/>
          </a:xfrm>
          <a:prstGeom prst="roundRect">
            <a:avLst>
              <a:gd name="adj" fmla="val 5851"/>
            </a:avLst>
          </a:prstGeom>
          <a:solidFill>
            <a:srgbClr val="FBF1E8"/>
          </a:solidFill>
          <a:ln w="12700">
            <a:solidFill>
              <a:srgbClr val="C4651A"/>
            </a:solidFill>
            <a:prstDash val="dash"/>
          </a:ln>
        </p:spPr>
      </p:sp>
      <p:sp>
        <p:nvSpPr>
          <p:cNvPr id="20" name="Text 18"/>
          <p:cNvSpPr/>
          <p:nvPr/>
        </p:nvSpPr>
        <p:spPr>
          <a:xfrm>
            <a:off x="5066629" y="3364782"/>
            <a:ext cx="19634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Switch</a:t>
            </a:r>
            <a:endParaRPr lang="en-US" sz="1400" dirty="0"/>
          </a:p>
        </p:txBody>
      </p:sp>
      <p:sp>
        <p:nvSpPr>
          <p:cNvPr id="21" name="Text 19"/>
          <p:cNvSpPr/>
          <p:nvPr/>
        </p:nvSpPr>
        <p:spPr>
          <a:xfrm>
            <a:off x="5066629" y="3628920"/>
            <a:ext cx="1963428"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bins done → join the workers (connect, import snapshots)</a:t>
            </a:r>
            <a:endParaRPr lang="en-US" sz="1200" dirty="0"/>
          </a:p>
        </p:txBody>
      </p:sp>
      <p:sp>
        <p:nvSpPr>
          <p:cNvPr id="22" name="Shape 20"/>
          <p:cNvSpPr/>
          <p:nvPr/>
        </p:nvSpPr>
        <p:spPr>
          <a:xfrm>
            <a:off x="9302705" y="3270180"/>
            <a:ext cx="2070085" cy="1193782"/>
          </a:xfrm>
          <a:prstGeom prst="roundRect">
            <a:avLst>
              <a:gd name="adj" fmla="val 5851"/>
            </a:avLst>
          </a:prstGeom>
          <a:solidFill>
            <a:srgbClr val="FFFFFF"/>
          </a:solidFill>
          <a:ln w="12700">
            <a:solidFill>
              <a:srgbClr val="CFD6DE"/>
            </a:solidFill>
            <a:prstDash val="solid"/>
          </a:ln>
        </p:spPr>
      </p:sp>
      <p:sp>
        <p:nvSpPr>
          <p:cNvPr id="23" name="Text 21"/>
          <p:cNvSpPr/>
          <p:nvPr/>
        </p:nvSpPr>
        <p:spPr>
          <a:xfrm>
            <a:off x="9435423" y="3364782"/>
            <a:ext cx="185878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Block result</a:t>
            </a:r>
            <a:endParaRPr lang="en-US" sz="1400" dirty="0"/>
          </a:p>
        </p:txBody>
      </p:sp>
      <p:sp>
        <p:nvSpPr>
          <p:cNvPr id="24" name="Text 22"/>
          <p:cNvSpPr/>
          <p:nvPr/>
        </p:nvSpPr>
        <p:spPr>
          <a:xfrm>
            <a:off x="9435423" y="3628920"/>
            <a:ext cx="1858787"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match: mark (bin, seq) done; mismatch: file bin-X-block-Y</a:t>
            </a:r>
            <a:endParaRPr lang="en-US" sz="1200" dirty="0"/>
          </a:p>
        </p:txBody>
      </p:sp>
      <p:sp>
        <p:nvSpPr>
          <p:cNvPr id="25" name="Shape 23"/>
          <p:cNvSpPr/>
          <p:nvPr/>
        </p:nvSpPr>
        <p:spPr>
          <a:xfrm>
            <a:off x="812788" y="4914843"/>
            <a:ext cx="2539994" cy="1015975"/>
          </a:xfrm>
          <a:prstGeom prst="roundRect">
            <a:avLst>
              <a:gd name="adj" fmla="val 7500"/>
            </a:avLst>
          </a:prstGeom>
          <a:solidFill>
            <a:srgbClr val="1D2733"/>
          </a:solidFill>
          <a:ln/>
        </p:spPr>
      </p:sp>
      <p:sp>
        <p:nvSpPr>
          <p:cNvPr id="26" name="Text 24"/>
          <p:cNvSpPr/>
          <p:nvPr/>
        </p:nvSpPr>
        <p:spPr>
          <a:xfrm>
            <a:off x="939780" y="5003718"/>
            <a:ext cx="2354590"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Anchor instance</a:t>
            </a:r>
            <a:endParaRPr lang="en-US" sz="1400" dirty="0"/>
          </a:p>
        </p:txBody>
      </p:sp>
      <p:sp>
        <p:nvSpPr>
          <p:cNvPr id="27" name="Text 25"/>
          <p:cNvSpPr/>
          <p:nvPr/>
        </p:nvSpPr>
        <p:spPr>
          <a:xfrm>
            <a:off x="939780" y="5267854"/>
            <a:ext cx="2354590"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exports the snapshot; S slicers + (N − S) workers</a:t>
            </a:r>
            <a:endParaRPr lang="en-US" sz="1200" dirty="0"/>
          </a:p>
        </p:txBody>
      </p:sp>
      <p:sp>
        <p:nvSpPr>
          <p:cNvPr id="28" name="Shape 26"/>
          <p:cNvSpPr/>
          <p:nvPr/>
        </p:nvSpPr>
        <p:spPr>
          <a:xfrm>
            <a:off x="3759157" y="4914843"/>
            <a:ext cx="2539994" cy="1015975"/>
          </a:xfrm>
          <a:prstGeom prst="roundRect">
            <a:avLst>
              <a:gd name="adj" fmla="val 7500"/>
            </a:avLst>
          </a:prstGeom>
          <a:solidFill>
            <a:srgbClr val="1D2733"/>
          </a:solidFill>
          <a:ln/>
        </p:spPr>
      </p:sp>
      <p:sp>
        <p:nvSpPr>
          <p:cNvPr id="29" name="Text 27"/>
          <p:cNvSpPr/>
          <p:nvPr/>
        </p:nvSpPr>
        <p:spPr>
          <a:xfrm>
            <a:off x="3886149" y="5003718"/>
            <a:ext cx="2354590"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Other instances</a:t>
            </a:r>
            <a:endParaRPr lang="en-US" sz="1400" dirty="0"/>
          </a:p>
        </p:txBody>
      </p:sp>
      <p:sp>
        <p:nvSpPr>
          <p:cNvPr id="30" name="Text 28"/>
          <p:cNvSpPr/>
          <p:nvPr/>
        </p:nvSpPr>
        <p:spPr>
          <a:xfrm>
            <a:off x="3886149" y="5267854"/>
            <a:ext cx="2354590"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import the snapshot; N − S workers, then N</a:t>
            </a:r>
            <a:endParaRPr lang="en-US" sz="1200" dirty="0"/>
          </a:p>
        </p:txBody>
      </p:sp>
      <p:sp>
        <p:nvSpPr>
          <p:cNvPr id="31" name="Shape 29"/>
          <p:cNvSpPr/>
          <p:nvPr/>
        </p:nvSpPr>
        <p:spPr>
          <a:xfrm>
            <a:off x="6705564" y="4914843"/>
            <a:ext cx="2184378" cy="1015975"/>
          </a:xfrm>
          <a:prstGeom prst="roundRect">
            <a:avLst>
              <a:gd name="adj" fmla="val 7500"/>
            </a:avLst>
          </a:prstGeom>
          <a:solidFill>
            <a:srgbClr val="1D2733"/>
          </a:solidFill>
          <a:ln/>
        </p:spPr>
      </p:sp>
      <p:sp>
        <p:nvSpPr>
          <p:cNvPr id="32" name="Text 30"/>
          <p:cNvSpPr/>
          <p:nvPr/>
        </p:nvSpPr>
        <p:spPr>
          <a:xfrm>
            <a:off x="6832556" y="5003718"/>
            <a:ext cx="1988306"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Limit N</a:t>
            </a:r>
            <a:endParaRPr lang="en-US" sz="1400" dirty="0"/>
          </a:p>
        </p:txBody>
      </p:sp>
      <p:sp>
        <p:nvSpPr>
          <p:cNvPr id="33" name="Text 31"/>
          <p:cNvSpPr/>
          <p:nvPr/>
        </p:nvSpPr>
        <p:spPr>
          <a:xfrm>
            <a:off x="6832556" y="5267854"/>
            <a:ext cx="1988306"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the same N on every instance</a:t>
            </a:r>
            <a:endParaRPr lang="en-US" sz="1200" dirty="0"/>
          </a:p>
        </p:txBody>
      </p:sp>
      <p:sp>
        <p:nvSpPr>
          <p:cNvPr id="34" name="Shape 32"/>
          <p:cNvSpPr/>
          <p:nvPr/>
        </p:nvSpPr>
        <p:spPr>
          <a:xfrm>
            <a:off x="9302705" y="4921193"/>
            <a:ext cx="2070085" cy="1003275"/>
          </a:xfrm>
          <a:prstGeom prst="roundRect">
            <a:avLst>
              <a:gd name="adj" fmla="val 6962"/>
            </a:avLst>
          </a:prstGeom>
          <a:solidFill>
            <a:srgbClr val="FFFFFF"/>
          </a:solidFill>
          <a:ln w="12700">
            <a:solidFill>
              <a:srgbClr val="CFD6DE"/>
            </a:solidFill>
            <a:prstDash val="solid"/>
          </a:ln>
        </p:spPr>
      </p:sp>
      <p:sp>
        <p:nvSpPr>
          <p:cNvPr id="35" name="Text 33"/>
          <p:cNvSpPr/>
          <p:nvPr/>
        </p:nvSpPr>
        <p:spPr>
          <a:xfrm>
            <a:off x="9435423" y="5015795"/>
            <a:ext cx="185878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Merge</a:t>
            </a:r>
            <a:endParaRPr lang="en-US" sz="1400" dirty="0"/>
          </a:p>
        </p:txBody>
      </p:sp>
      <p:sp>
        <p:nvSpPr>
          <p:cNvPr id="36" name="Text 34"/>
          <p:cNvSpPr/>
          <p:nvPr/>
        </p:nvSpPr>
        <p:spPr>
          <a:xfrm>
            <a:off x="9435423" y="5279930"/>
            <a:ext cx="1858787"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check coverage, join files by (bin, seq)</a:t>
            </a:r>
            <a:endParaRPr lang="en-US" sz="1200" dirty="0"/>
          </a:p>
        </p:txBody>
      </p:sp>
      <p:pic>
        <p:nvPicPr>
          <p:cNvPr id="37" name="Image 0" descr="connector">    </p:cNvPr>
          <p:cNvPicPr>
            <a:picLocks noChangeAspect="1"/>
          </p:cNvPicPr>
          <p:nvPr/>
        </p:nvPicPr>
        <p:blipFill>
          <a:blip r:embed="rId1"/>
          <a:srcRect l="0" r="0" t="0" b="0"/>
          <a:stretch/>
        </p:blipFill>
        <p:spPr>
          <a:xfrm>
            <a:off x="2539957" y="2038290"/>
            <a:ext cx="507969" cy="101594"/>
          </a:xfrm>
          <a:prstGeom prst="rect">
            <a:avLst/>
          </a:prstGeom>
        </p:spPr>
      </p:pic>
      <p:pic>
        <p:nvPicPr>
          <p:cNvPr id="38" name="Image 1" descr="connector">    </p:cNvPr>
          <p:cNvPicPr>
            <a:picLocks noChangeAspect="1"/>
          </p:cNvPicPr>
          <p:nvPr/>
        </p:nvPicPr>
        <p:blipFill>
          <a:blip r:embed="rId2"/>
          <a:srcRect l="0" r="0" t="0" b="0"/>
          <a:stretch/>
        </p:blipFill>
        <p:spPr>
          <a:xfrm>
            <a:off x="4470351" y="2038290"/>
            <a:ext cx="507969" cy="101594"/>
          </a:xfrm>
          <a:prstGeom prst="rect">
            <a:avLst/>
          </a:prstGeom>
        </p:spPr>
      </p:pic>
      <p:pic>
        <p:nvPicPr>
          <p:cNvPr id="39" name="Image 2" descr="connector">    </p:cNvPr>
          <p:cNvPicPr>
            <a:picLocks noChangeAspect="1"/>
          </p:cNvPicPr>
          <p:nvPr/>
        </p:nvPicPr>
        <p:blipFill>
          <a:blip r:embed="rId3"/>
          <a:srcRect l="0" r="0" t="0" b="0"/>
          <a:stretch/>
        </p:blipFill>
        <p:spPr>
          <a:xfrm>
            <a:off x="6654767" y="2038290"/>
            <a:ext cx="507969" cy="101594"/>
          </a:xfrm>
          <a:prstGeom prst="rect">
            <a:avLst/>
          </a:prstGeom>
        </p:spPr>
      </p:pic>
      <p:pic>
        <p:nvPicPr>
          <p:cNvPr id="40" name="Image 3" descr="connector">    </p:cNvPr>
          <p:cNvPicPr>
            <a:picLocks noChangeAspect="1"/>
          </p:cNvPicPr>
          <p:nvPr/>
        </p:nvPicPr>
        <p:blipFill>
          <a:blip r:embed="rId4"/>
          <a:srcRect l="0" r="0" t="0" b="0"/>
          <a:stretch/>
        </p:blipFill>
        <p:spPr>
          <a:xfrm>
            <a:off x="8839183" y="2038290"/>
            <a:ext cx="507969" cy="101594"/>
          </a:xfrm>
          <a:prstGeom prst="rect">
            <a:avLst/>
          </a:prstGeom>
        </p:spPr>
      </p:pic>
      <p:pic>
        <p:nvPicPr>
          <p:cNvPr id="41" name="Image 4" descr="connector">    </p:cNvPr>
          <p:cNvPicPr>
            <a:picLocks noChangeAspect="1"/>
          </p:cNvPicPr>
          <p:nvPr/>
        </p:nvPicPr>
        <p:blipFill>
          <a:blip r:embed="rId5"/>
          <a:srcRect l="0" r="0" t="-1" b="-1"/>
          <a:stretch/>
        </p:blipFill>
        <p:spPr>
          <a:xfrm>
            <a:off x="5765784" y="2641550"/>
            <a:ext cx="101594" cy="673077"/>
          </a:xfrm>
          <a:prstGeom prst="rect">
            <a:avLst/>
          </a:prstGeom>
        </p:spPr>
      </p:pic>
      <p:pic>
        <p:nvPicPr>
          <p:cNvPr id="42" name="Image 5" descr="connector">    </p:cNvPr>
          <p:cNvPicPr>
            <a:picLocks noChangeAspect="1"/>
          </p:cNvPicPr>
          <p:nvPr/>
        </p:nvPicPr>
        <p:blipFill>
          <a:blip r:embed="rId6"/>
          <a:srcRect l="-2" r="-2" t="0" b="0"/>
          <a:stretch/>
        </p:blipFill>
        <p:spPr>
          <a:xfrm>
            <a:off x="7061180" y="3816294"/>
            <a:ext cx="2082785" cy="101594"/>
          </a:xfrm>
          <a:prstGeom prst="rect">
            <a:avLst/>
          </a:prstGeom>
        </p:spPr>
      </p:pic>
      <p:pic>
        <p:nvPicPr>
          <p:cNvPr id="43" name="Image 6" descr="connector">    </p:cNvPr>
          <p:cNvPicPr>
            <a:picLocks noChangeAspect="1"/>
          </p:cNvPicPr>
          <p:nvPr/>
        </p:nvPicPr>
        <p:blipFill>
          <a:blip r:embed="rId7"/>
          <a:srcRect l="0" r="0" t="-3" b="-3"/>
          <a:stretch/>
        </p:blipFill>
        <p:spPr>
          <a:xfrm>
            <a:off x="9042371" y="2324050"/>
            <a:ext cx="101594" cy="1593837"/>
          </a:xfrm>
          <a:prstGeom prst="rect">
            <a:avLst/>
          </a:prstGeom>
        </p:spPr>
      </p:pic>
      <p:pic>
        <p:nvPicPr>
          <p:cNvPr id="44" name="Image 7" descr="connector">    </p:cNvPr>
          <p:cNvPicPr>
            <a:picLocks noChangeAspect="1"/>
          </p:cNvPicPr>
          <p:nvPr/>
        </p:nvPicPr>
        <p:blipFill>
          <a:blip r:embed="rId8"/>
          <a:srcRect l="0" r="0" t="0" b="0"/>
          <a:stretch/>
        </p:blipFill>
        <p:spPr>
          <a:xfrm>
            <a:off x="9042371" y="2324050"/>
            <a:ext cx="304781" cy="101594"/>
          </a:xfrm>
          <a:prstGeom prst="rect">
            <a:avLst/>
          </a:prstGeom>
        </p:spPr>
      </p:pic>
      <p:pic>
        <p:nvPicPr>
          <p:cNvPr id="45" name="Image 8" descr="connector">    </p:cNvPr>
          <p:cNvPicPr>
            <a:picLocks noChangeAspect="1"/>
          </p:cNvPicPr>
          <p:nvPr/>
        </p:nvPicPr>
        <p:blipFill>
          <a:blip r:embed="rId9"/>
          <a:srcRect l="0" r="0" t="-1" b="-1"/>
          <a:stretch/>
        </p:blipFill>
        <p:spPr>
          <a:xfrm>
            <a:off x="10286969" y="2641550"/>
            <a:ext cx="101594" cy="673077"/>
          </a:xfrm>
          <a:prstGeom prst="rect">
            <a:avLst/>
          </a:prstGeom>
        </p:spPr>
      </p:pic>
      <p:pic>
        <p:nvPicPr>
          <p:cNvPr id="46" name="Image 9" descr="connector">    </p:cNvPr>
          <p:cNvPicPr>
            <a:picLocks noChangeAspect="1"/>
          </p:cNvPicPr>
          <p:nvPr/>
        </p:nvPicPr>
        <p:blipFill>
          <a:blip r:embed="rId10"/>
          <a:srcRect l="0" r="0" t="-2" b="-2"/>
          <a:stretch/>
        </p:blipFill>
        <p:spPr>
          <a:xfrm>
            <a:off x="10286969" y="4419553"/>
            <a:ext cx="101594" cy="5460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Coverage, order and memory</a:t>
            </a:r>
            <a:endParaRPr lang="en-US" sz="3000" dirty="0"/>
          </a:p>
        </p:txBody>
      </p:sp>
      <p:sp>
        <p:nvSpPr>
          <p:cNvPr id="3" name="Shape 1"/>
          <p:cNvSpPr/>
          <p:nvPr/>
        </p:nvSpPr>
        <p:spPr>
          <a:xfrm>
            <a:off x="819138" y="1492214"/>
            <a:ext cx="3340082" cy="4546640"/>
          </a:xfrm>
          <a:prstGeom prst="roundRect">
            <a:avLst>
              <a:gd name="adj" fmla="val 2852"/>
            </a:avLst>
          </a:prstGeom>
          <a:solidFill>
            <a:srgbClr val="FFFFFF"/>
          </a:solidFill>
          <a:ln w="12700">
            <a:solidFill>
              <a:srgbClr val="CFD6DE"/>
            </a:solidFill>
            <a:prstDash val="solid"/>
          </a:ln>
        </p:spPr>
      </p:sp>
      <p:sp>
        <p:nvSpPr>
          <p:cNvPr id="4" name="Text 2"/>
          <p:cNvSpPr/>
          <p:nvPr/>
        </p:nvSpPr>
        <p:spPr>
          <a:xfrm>
            <a:off x="1053450" y="1726527"/>
            <a:ext cx="295760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Every row, once</a:t>
            </a:r>
            <a:endParaRPr lang="en-US" sz="1600" dirty="0"/>
          </a:p>
        </p:txBody>
      </p:sp>
      <p:sp>
        <p:nvSpPr>
          <p:cNvPr id="5" name="Text 3"/>
          <p:cNvSpPr/>
          <p:nvPr/>
        </p:nvSpPr>
        <p:spPr>
          <a:xfrm>
            <a:off x="1053450" y="2097314"/>
            <a:ext cx="2957601"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Bins cover the whole key space. Inside a bin, blocks form a chain [Lo, b1), [b1, b2) … [bn, Hi).</a:t>
            </a:r>
            <a:endParaRPr lang="en-US" sz="1300" dirty="0"/>
          </a:p>
        </p:txBody>
      </p:sp>
      <p:sp>
        <p:nvSpPr>
          <p:cNvPr id="6" name="Text 4"/>
          <p:cNvSpPr/>
          <p:nvPr/>
        </p:nvSpPr>
        <p:spPr>
          <a:xfrm>
            <a:off x="1053450" y="2917763"/>
            <a:ext cx="2957601"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All blocks of an instance are hashed in its one snapshot, so every row of that snapshot is in exactly one block.</a:t>
            </a:r>
            <a:endParaRPr lang="en-US" sz="1300" dirty="0"/>
          </a:p>
        </p:txBody>
      </p:sp>
      <p:sp>
        <p:nvSpPr>
          <p:cNvPr id="7" name="Text 5"/>
          <p:cNvSpPr/>
          <p:nvPr/>
        </p:nvSpPr>
        <p:spPr>
          <a:xfrm>
            <a:off x="1053450" y="3738211"/>
            <a:ext cx="2957601" cy="718856"/>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D2733"/>
                </a:solidFill>
                <a:latin typeface="IBM Plex Sans" pitchFamily="34" charset="0"/>
                <a:ea typeface="IBM Plex Sans" pitchFamily="34" charset="-122"/>
                <a:cs typeface="IBM Plex Sans" pitchFamily="34" charset="-120"/>
              </a:rPr>
              <a:t>Check:</a:t>
            </a:r>
            <a:r>
              <a:rPr lang="en-US" sz="1300" dirty="0">
                <a:solidFill>
                  <a:srgbClr val="1D2733"/>
                </a:solidFill>
                <a:latin typeface="IBM Plex Sans" pitchFamily="34" charset="0"/>
                <a:ea typeface="IBM Plex Sans" pitchFamily="34" charset="-122"/>
                <a:cs typeface="IBM Plex Sans" pitchFamily="34" charset="-120"/>
              </a:rPr>
              <a:t> per bin, seq 0..k with no gaps and a last block; Σ block row counts = rows in the snapshot.</a:t>
            </a:r>
            <a:endParaRPr lang="en-US" sz="1300" dirty="0"/>
          </a:p>
        </p:txBody>
      </p:sp>
      <p:sp>
        <p:nvSpPr>
          <p:cNvPr id="8" name="Shape 6"/>
          <p:cNvSpPr/>
          <p:nvPr/>
        </p:nvSpPr>
        <p:spPr>
          <a:xfrm>
            <a:off x="4425904" y="1492214"/>
            <a:ext cx="3340120" cy="4546640"/>
          </a:xfrm>
          <a:prstGeom prst="roundRect">
            <a:avLst>
              <a:gd name="adj" fmla="val 2852"/>
            </a:avLst>
          </a:prstGeom>
          <a:solidFill>
            <a:srgbClr val="FFFFFF"/>
          </a:solidFill>
          <a:ln w="12700">
            <a:solidFill>
              <a:srgbClr val="CFD6DE"/>
            </a:solidFill>
            <a:prstDash val="solid"/>
          </a:ln>
        </p:spPr>
      </p:sp>
      <p:sp>
        <p:nvSpPr>
          <p:cNvPr id="9" name="Text 7"/>
          <p:cNvSpPr/>
          <p:nvPr/>
        </p:nvSpPr>
        <p:spPr>
          <a:xfrm>
            <a:off x="4660216" y="1726527"/>
            <a:ext cx="3099457"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Order without key comparison</a:t>
            </a:r>
            <a:endParaRPr lang="en-US" sz="1600" dirty="0"/>
          </a:p>
        </p:txBody>
      </p:sp>
      <p:sp>
        <p:nvSpPr>
          <p:cNvPr id="10" name="Text 8"/>
          <p:cNvSpPr/>
          <p:nvPr/>
        </p:nvSpPr>
        <p:spPr>
          <a:xfrm>
            <a:off x="4660216" y="2097314"/>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A block is named (bin, seq). Bins are numbered in key order when the plan is made; seq grows inside a bin.</a:t>
            </a:r>
            <a:endParaRPr lang="en-US" sz="1300" dirty="0"/>
          </a:p>
        </p:txBody>
      </p:sp>
      <p:sp>
        <p:nvSpPr>
          <p:cNvPr id="11" name="Text 9"/>
          <p:cNvSpPr/>
          <p:nvPr/>
        </p:nvSpPr>
        <p:spPr>
          <a:xfrm>
            <a:off x="4660216" y="2917763"/>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First block: bin 0, seq 0, open start. Last block: the last bin's block with the last flag, open end.</a:t>
            </a:r>
            <a:endParaRPr lang="en-US" sz="1300" dirty="0"/>
          </a:p>
        </p:txBody>
      </p:sp>
      <p:sp>
        <p:nvSpPr>
          <p:cNvPr id="12" name="Text 10"/>
          <p:cNvSpPr/>
          <p:nvPr/>
        </p:nvSpPr>
        <p:spPr>
          <a:xfrm>
            <a:off x="4660216" y="3738211"/>
            <a:ext cx="2957640"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Global numbers, if needed, are given at the merge.</a:t>
            </a:r>
            <a:endParaRPr lang="en-US" sz="1300" dirty="0"/>
          </a:p>
        </p:txBody>
      </p:sp>
      <p:sp>
        <p:nvSpPr>
          <p:cNvPr id="13" name="Shape 11"/>
          <p:cNvSpPr/>
          <p:nvPr/>
        </p:nvSpPr>
        <p:spPr>
          <a:xfrm>
            <a:off x="8032708" y="1492214"/>
            <a:ext cx="3340120" cy="4546640"/>
          </a:xfrm>
          <a:prstGeom prst="roundRect">
            <a:avLst>
              <a:gd name="adj" fmla="val 2852"/>
            </a:avLst>
          </a:prstGeom>
          <a:solidFill>
            <a:srgbClr val="FFFFFF"/>
          </a:solidFill>
          <a:ln w="12700">
            <a:solidFill>
              <a:srgbClr val="CFD6DE"/>
            </a:solidFill>
            <a:prstDash val="solid"/>
          </a:ln>
        </p:spPr>
      </p:sp>
      <p:sp>
        <p:nvSpPr>
          <p:cNvPr id="14" name="Text 12"/>
          <p:cNvSpPr/>
          <p:nvPr/>
        </p:nvSpPr>
        <p:spPr>
          <a:xfrm>
            <a:off x="8267020" y="1726527"/>
            <a:ext cx="295764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Memory is known in advance</a:t>
            </a:r>
            <a:endParaRPr lang="en-US" sz="1600" dirty="0"/>
          </a:p>
        </p:txBody>
      </p:sp>
      <p:sp>
        <p:nvSpPr>
          <p:cNvPr id="15" name="Text 13"/>
          <p:cNvSpPr/>
          <p:nvPr/>
        </p:nvSpPr>
        <p:spPr>
          <a:xfrm>
            <a:off x="8267020" y="2097314"/>
            <a:ext cx="2957640"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Block queue ≈ reltuples / block_size × 2 keys × key width.</a:t>
            </a:r>
            <a:endParaRPr lang="en-US" sz="1300" dirty="0"/>
          </a:p>
        </p:txBody>
      </p:sp>
      <p:sp>
        <p:nvSpPr>
          <p:cNvPr id="16" name="Text 14"/>
          <p:cNvSpPr/>
          <p:nvPr/>
        </p:nvSpPr>
        <p:spPr>
          <a:xfrm>
            <a:off x="8267020" y="2686611"/>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Example: 3.8 B rows, blocks of 10 k, 100-byte key ≈ 76 MB, plus client overhead.</a:t>
            </a:r>
            <a:endParaRPr lang="en-US" sz="1300" dirty="0"/>
          </a:p>
        </p:txBody>
      </p:sp>
      <p:sp>
        <p:nvSpPr>
          <p:cNvPr id="17" name="Text 15"/>
          <p:cNvSpPr/>
          <p:nvPr/>
        </p:nvSpPr>
        <p:spPr>
          <a:xfrm>
            <a:off x="8267020" y="3507059"/>
            <a:ext cx="2957640" cy="95000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Blocks in work: at most N records. Bound the queue only if the estimate is too large: a waiting slicer becomes a worker later.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4EF"/>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Errors: retry the block or restart the run</a:t>
            </a:r>
            <a:endParaRPr lang="en-US" sz="3000" dirty="0"/>
          </a:p>
        </p:txBody>
      </p:sp>
      <p:sp>
        <p:nvSpPr>
          <p:cNvPr id="3" name="Shape 1"/>
          <p:cNvSpPr/>
          <p:nvPr/>
        </p:nvSpPr>
        <p:spPr>
          <a:xfrm>
            <a:off x="819138" y="1492216"/>
            <a:ext cx="3340082" cy="4546640"/>
          </a:xfrm>
          <a:prstGeom prst="roundRect">
            <a:avLst>
              <a:gd name="adj" fmla="val 2852"/>
            </a:avLst>
          </a:prstGeom>
          <a:solidFill>
            <a:srgbClr val="FFFFFF"/>
          </a:solidFill>
          <a:ln w="12700">
            <a:solidFill>
              <a:srgbClr val="CFD6DE"/>
            </a:solidFill>
            <a:prstDash val="solid"/>
          </a:ln>
        </p:spPr>
      </p:sp>
      <p:sp>
        <p:nvSpPr>
          <p:cNvPr id="4" name="Text 2"/>
          <p:cNvSpPr/>
          <p:nvPr/>
        </p:nvSpPr>
        <p:spPr>
          <a:xfrm>
            <a:off x="1053450" y="1726527"/>
            <a:ext cx="2957601"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Block error</a:t>
            </a:r>
            <a:endParaRPr lang="en-US" sz="1600" dirty="0"/>
          </a:p>
        </p:txBody>
      </p:sp>
      <p:sp>
        <p:nvSpPr>
          <p:cNvPr id="5" name="Text 3"/>
          <p:cNvSpPr/>
          <p:nvPr/>
        </p:nvSpPr>
        <p:spPr>
          <a:xfrm>
            <a:off x="1053450" y="2097314"/>
            <a:ext cx="2957601"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A query fails: a cancel, a timeout, a short network fault.</a:t>
            </a:r>
            <a:endParaRPr lang="en-US" sz="1300" dirty="0"/>
          </a:p>
        </p:txBody>
      </p:sp>
      <p:sp>
        <p:nvSpPr>
          <p:cNvPr id="6" name="Text 4"/>
          <p:cNvSpPr/>
          <p:nvPr/>
        </p:nvSpPr>
        <p:spPr>
          <a:xfrm>
            <a:off x="1053450" y="2686611"/>
            <a:ext cx="2957601" cy="950009"/>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The worker opens a new REPEATABLE READ transaction, runs SET TRANSACTION SNAPSHOT with the same id and hashes the block again.</a:t>
            </a:r>
            <a:endParaRPr lang="en-US" sz="1300" dirty="0"/>
          </a:p>
        </p:txBody>
      </p:sp>
      <p:sp>
        <p:nvSpPr>
          <p:cNvPr id="7" name="Text 5"/>
          <p:cNvSpPr/>
          <p:nvPr/>
        </p:nvSpPr>
        <p:spPr>
          <a:xfrm>
            <a:off x="1053450" y="3738212"/>
            <a:ext cx="2957601"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Attempts are limited. No savepoints: the normal path pays nothing.</a:t>
            </a:r>
            <a:endParaRPr lang="en-US" sz="1300" dirty="0"/>
          </a:p>
        </p:txBody>
      </p:sp>
      <p:sp>
        <p:nvSpPr>
          <p:cNvPr id="8" name="Shape 6"/>
          <p:cNvSpPr/>
          <p:nvPr/>
        </p:nvSpPr>
        <p:spPr>
          <a:xfrm>
            <a:off x="4425904" y="1492216"/>
            <a:ext cx="3340120" cy="4546640"/>
          </a:xfrm>
          <a:prstGeom prst="roundRect">
            <a:avLst>
              <a:gd name="adj" fmla="val 2852"/>
            </a:avLst>
          </a:prstGeom>
          <a:solidFill>
            <a:srgbClr val="FFFFFF"/>
          </a:solidFill>
          <a:ln w="12700">
            <a:solidFill>
              <a:srgbClr val="CFD6DE"/>
            </a:solidFill>
            <a:prstDash val="solid"/>
          </a:ln>
        </p:spPr>
      </p:sp>
      <p:sp>
        <p:nvSpPr>
          <p:cNvPr id="9" name="Text 7"/>
          <p:cNvSpPr/>
          <p:nvPr/>
        </p:nvSpPr>
        <p:spPr>
          <a:xfrm>
            <a:off x="4660216" y="1726527"/>
            <a:ext cx="295764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Snapshot or instance lost</a:t>
            </a:r>
            <a:endParaRPr lang="en-US" sz="1600" dirty="0"/>
          </a:p>
        </p:txBody>
      </p:sp>
      <p:sp>
        <p:nvSpPr>
          <p:cNvPr id="10" name="Text 8"/>
          <p:cNvSpPr/>
          <p:nvPr/>
        </p:nvSpPr>
        <p:spPr>
          <a:xfrm>
            <a:off x="4660216" y="2097314"/>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The exporting session or an instance is gone, so the snapshot cannot be imported again.</a:t>
            </a:r>
            <a:endParaRPr lang="en-US" sz="1300" dirty="0"/>
          </a:p>
        </p:txBody>
      </p:sp>
      <p:sp>
        <p:nvSpPr>
          <p:cNvPr id="11" name="Text 9"/>
          <p:cNvSpPr/>
          <p:nvPr/>
        </p:nvSpPr>
        <p:spPr>
          <a:xfrm>
            <a:off x="4660216" y="2917763"/>
            <a:ext cx="2957640"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The whole run stops and starts again from zero.</a:t>
            </a:r>
            <a:endParaRPr lang="en-US" sz="1300" dirty="0"/>
          </a:p>
        </p:txBody>
      </p:sp>
      <p:sp>
        <p:nvSpPr>
          <p:cNvPr id="12" name="Text 10"/>
          <p:cNvSpPr/>
          <p:nvPr/>
        </p:nvSpPr>
        <p:spPr>
          <a:xfrm>
            <a:off x="4660216" y="3507060"/>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No resume by design: a result made from different snapshots cannot be read on live data.</a:t>
            </a:r>
            <a:endParaRPr lang="en-US" sz="1300" dirty="0"/>
          </a:p>
        </p:txBody>
      </p:sp>
      <p:sp>
        <p:nvSpPr>
          <p:cNvPr id="13" name="Shape 11"/>
          <p:cNvSpPr/>
          <p:nvPr/>
        </p:nvSpPr>
        <p:spPr>
          <a:xfrm>
            <a:off x="8032708" y="1492216"/>
            <a:ext cx="3340120" cy="4546640"/>
          </a:xfrm>
          <a:prstGeom prst="roundRect">
            <a:avLst>
              <a:gd name="adj" fmla="val 2852"/>
            </a:avLst>
          </a:prstGeom>
          <a:solidFill>
            <a:srgbClr val="FFFFFF"/>
          </a:solidFill>
          <a:ln w="12700">
            <a:solidFill>
              <a:srgbClr val="CFD6DE"/>
            </a:solidFill>
            <a:prstDash val="solid"/>
          </a:ln>
        </p:spPr>
      </p:sp>
      <p:sp>
        <p:nvSpPr>
          <p:cNvPr id="14" name="Text 12"/>
          <p:cNvSpPr/>
          <p:nvPr/>
        </p:nvSpPr>
        <p:spPr>
          <a:xfrm>
            <a:off x="8267020" y="1726527"/>
            <a:ext cx="2957640"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2733"/>
                </a:solidFill>
                <a:latin typeface="IBM Plex Sans" pitchFamily="34" charset="0"/>
                <a:ea typeface="IBM Plex Sans" pitchFamily="34" charset="-122"/>
                <a:cs typeface="IBM Plex Sans" pitchFamily="34" charset="-120"/>
              </a:rPr>
              <a:t>Keep the exporter alive</a:t>
            </a:r>
            <a:endParaRPr lang="en-US" sz="1600" dirty="0"/>
          </a:p>
        </p:txBody>
      </p:sp>
      <p:sp>
        <p:nvSpPr>
          <p:cNvPr id="15" name="Text 13"/>
          <p:cNvSpPr/>
          <p:nvPr/>
        </p:nvSpPr>
        <p:spPr>
          <a:xfrm>
            <a:off x="8267020" y="2097314"/>
            <a:ext cx="2957640" cy="48770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On each instance one worker is the exporter, so its session is always busy.</a:t>
            </a:r>
            <a:endParaRPr lang="en-US" sz="1300" dirty="0"/>
          </a:p>
        </p:txBody>
      </p:sp>
      <p:sp>
        <p:nvSpPr>
          <p:cNvPr id="16" name="Text 14"/>
          <p:cNvSpPr/>
          <p:nvPr/>
        </p:nvSpPr>
        <p:spPr>
          <a:xfrm>
            <a:off x="8267020" y="2686611"/>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Its session sets idle_in_transaction_session_timeout = 0.</a:t>
            </a:r>
            <a:endParaRPr lang="en-US" sz="1300" dirty="0"/>
          </a:p>
        </p:txBody>
      </p:sp>
      <p:sp>
        <p:nvSpPr>
          <p:cNvPr id="17" name="Text 15"/>
          <p:cNvSpPr/>
          <p:nvPr/>
        </p:nvSpPr>
        <p:spPr>
          <a:xfrm>
            <a:off x="8267020" y="3507060"/>
            <a:ext cx="2957640" cy="71885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D2733"/>
                </a:solidFill>
                <a:latin typeface="IBM Plex Sans" pitchFamily="34" charset="0"/>
                <a:ea typeface="IBM Plex Sans" pitchFamily="34" charset="-122"/>
                <a:cs typeface="IBM Plex Sans" pitchFamily="34" charset="-120"/>
              </a:rPr>
              <a:t>Check at start: recovery conflicts on a standby; old_snapshot_threshold before PostgreSQL 17.</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AE3"/>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Current solution: table-diff today</a:t>
            </a:r>
            <a:endParaRPr lang="en-US" sz="3000" dirty="0"/>
          </a:p>
        </p:txBody>
      </p:sp>
      <p:sp>
        <p:nvSpPr>
          <p:cNvPr id="3" name="Shape 1"/>
          <p:cNvSpPr/>
          <p:nvPr/>
        </p:nvSpPr>
        <p:spPr>
          <a:xfrm>
            <a:off x="819138" y="1492216"/>
            <a:ext cx="1765266" cy="1193782"/>
          </a:xfrm>
          <a:prstGeom prst="roundRect">
            <a:avLst>
              <a:gd name="adj" fmla="val 5851"/>
            </a:avLst>
          </a:prstGeom>
          <a:solidFill>
            <a:srgbClr val="FFFFFF"/>
          </a:solidFill>
          <a:ln w="12700">
            <a:solidFill>
              <a:srgbClr val="CFD6DE"/>
            </a:solidFill>
            <a:prstDash val="solid"/>
          </a:ln>
        </p:spPr>
      </p:sp>
      <p:sp>
        <p:nvSpPr>
          <p:cNvPr id="4" name="Text 2"/>
          <p:cNvSpPr/>
          <p:nvPr/>
        </p:nvSpPr>
        <p:spPr>
          <a:xfrm>
            <a:off x="951856" y="1586818"/>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Plan parts</a:t>
            </a:r>
            <a:endParaRPr lang="en-US" sz="1400" dirty="0"/>
          </a:p>
        </p:txBody>
      </p:sp>
      <p:sp>
        <p:nvSpPr>
          <p:cNvPr id="5" name="Text 3"/>
          <p:cNvSpPr/>
          <p:nvPr/>
        </p:nvSpPr>
        <p:spPr>
          <a:xfrm>
            <a:off x="951856" y="1850954"/>
            <a:ext cx="1550628"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anchor: histogram; sample if none or a filter</a:t>
            </a:r>
            <a:endParaRPr lang="en-US" sz="1200" dirty="0"/>
          </a:p>
        </p:txBody>
      </p:sp>
      <p:sp>
        <p:nvSpPr>
          <p:cNvPr id="6" name="Shape 4"/>
          <p:cNvSpPr/>
          <p:nvPr/>
        </p:nvSpPr>
        <p:spPr>
          <a:xfrm>
            <a:off x="3006691" y="1495391"/>
            <a:ext cx="1758916" cy="1187432"/>
          </a:xfrm>
          <a:prstGeom prst="roundRect">
            <a:avLst>
              <a:gd name="adj" fmla="val 5615"/>
            </a:avLst>
          </a:prstGeom>
          <a:solidFill>
            <a:srgbClr val="FFFFFF"/>
          </a:solidFill>
          <a:ln w="19050">
            <a:solidFill>
              <a:srgbClr val="C4651A"/>
            </a:solidFill>
            <a:prstDash val="solid"/>
          </a:ln>
        </p:spPr>
      </p:sp>
      <p:sp>
        <p:nvSpPr>
          <p:cNvPr id="7" name="Text 5"/>
          <p:cNvSpPr/>
          <p:nvPr/>
        </p:nvSpPr>
        <p:spPr>
          <a:xfrm>
            <a:off x="3141065" y="1591649"/>
            <a:ext cx="154096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Cutters × H/4</a:t>
            </a:r>
            <a:endParaRPr lang="en-US" sz="1400" dirty="0"/>
          </a:p>
        </p:txBody>
      </p:sp>
      <p:sp>
        <p:nvSpPr>
          <p:cNvPr id="8" name="Text 6"/>
          <p:cNvSpPr/>
          <p:nvPr/>
        </p:nvSpPr>
        <p:spPr>
          <a:xfrm>
            <a:off x="3141065" y="1855784"/>
            <a:ext cx="1540967"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each chunk is a short read-only transaction</a:t>
            </a:r>
            <a:endParaRPr lang="en-US" sz="1200" dirty="0"/>
          </a:p>
        </p:txBody>
      </p:sp>
      <p:sp>
        <p:nvSpPr>
          <p:cNvPr id="9" name="Shape 7"/>
          <p:cNvSpPr/>
          <p:nvPr/>
        </p:nvSpPr>
        <p:spPr>
          <a:xfrm>
            <a:off x="5187932" y="1492216"/>
            <a:ext cx="1765266" cy="1193782"/>
          </a:xfrm>
          <a:prstGeom prst="roundRect">
            <a:avLst>
              <a:gd name="adj" fmla="val 5851"/>
            </a:avLst>
          </a:prstGeom>
          <a:solidFill>
            <a:srgbClr val="E9EEF4"/>
          </a:solidFill>
          <a:ln w="12700">
            <a:solidFill>
              <a:srgbClr val="8A99AA"/>
            </a:solidFill>
            <a:prstDash val="dash"/>
          </a:ln>
        </p:spPr>
      </p:sp>
      <p:sp>
        <p:nvSpPr>
          <p:cNvPr id="10" name="Text 8"/>
          <p:cNvSpPr/>
          <p:nvPr/>
        </p:nvSpPr>
        <p:spPr>
          <a:xfrm>
            <a:off x="5320651" y="1586818"/>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Block channel</a:t>
            </a:r>
            <a:endParaRPr lang="en-US" sz="1400" dirty="0"/>
          </a:p>
        </p:txBody>
      </p:sp>
      <p:sp>
        <p:nvSpPr>
          <p:cNvPr id="11" name="Text 9"/>
          <p:cNvSpPr/>
          <p:nvPr/>
        </p:nvSpPr>
        <p:spPr>
          <a:xfrm>
            <a:off x="5320651" y="1850954"/>
            <a:ext cx="1550628"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bounded, 4 × H; blocks named (part, seq)</a:t>
            </a:r>
            <a:endParaRPr lang="en-US" sz="1200" dirty="0"/>
          </a:p>
        </p:txBody>
      </p:sp>
      <p:sp>
        <p:nvSpPr>
          <p:cNvPr id="12" name="Shape 10"/>
          <p:cNvSpPr/>
          <p:nvPr/>
        </p:nvSpPr>
        <p:spPr>
          <a:xfrm>
            <a:off x="7372310" y="1492216"/>
            <a:ext cx="1765266" cy="1193782"/>
          </a:xfrm>
          <a:prstGeom prst="roundRect">
            <a:avLst>
              <a:gd name="adj" fmla="val 5851"/>
            </a:avLst>
          </a:prstGeom>
          <a:solidFill>
            <a:srgbClr val="FFFFFF"/>
          </a:solidFill>
          <a:ln w="12700">
            <a:solidFill>
              <a:srgbClr val="CFD6DE"/>
            </a:solidFill>
            <a:prstDash val="solid"/>
          </a:ln>
        </p:spPr>
      </p:sp>
      <p:sp>
        <p:nvSpPr>
          <p:cNvPr id="13" name="Text 11"/>
          <p:cNvSpPr/>
          <p:nvPr/>
        </p:nvSpPr>
        <p:spPr>
          <a:xfrm>
            <a:off x="7505029" y="1586818"/>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Dispatcher</a:t>
            </a:r>
            <a:endParaRPr lang="en-US" sz="1400" dirty="0"/>
          </a:p>
        </p:txBody>
      </p:sp>
      <p:sp>
        <p:nvSpPr>
          <p:cNvPr id="14" name="Text 12"/>
          <p:cNvSpPr/>
          <p:nvPr/>
        </p:nvSpPr>
        <p:spPr>
          <a:xfrm>
            <a:off x="7505029" y="1850954"/>
            <a:ext cx="1550628"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one hash task per (block, node)</a:t>
            </a:r>
            <a:endParaRPr lang="en-US" sz="1200" dirty="0"/>
          </a:p>
        </p:txBody>
      </p:sp>
      <p:sp>
        <p:nvSpPr>
          <p:cNvPr id="15" name="Shape 13"/>
          <p:cNvSpPr/>
          <p:nvPr/>
        </p:nvSpPr>
        <p:spPr>
          <a:xfrm>
            <a:off x="9556727" y="1492216"/>
            <a:ext cx="1816063" cy="1193782"/>
          </a:xfrm>
          <a:prstGeom prst="roundRect">
            <a:avLst>
              <a:gd name="adj" fmla="val 5851"/>
            </a:avLst>
          </a:prstGeom>
          <a:solidFill>
            <a:srgbClr val="E9EEF4"/>
          </a:solidFill>
          <a:ln w="12700">
            <a:solidFill>
              <a:srgbClr val="8A99AA"/>
            </a:solidFill>
            <a:prstDash val="dash"/>
          </a:ln>
        </p:spPr>
      </p:sp>
      <p:sp>
        <p:nvSpPr>
          <p:cNvPr id="16" name="Text 14"/>
          <p:cNvSpPr/>
          <p:nvPr/>
        </p:nvSpPr>
        <p:spPr>
          <a:xfrm>
            <a:off x="9689446" y="1586818"/>
            <a:ext cx="1601425"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Hash task queue</a:t>
            </a:r>
            <a:endParaRPr lang="en-US" sz="1400" dirty="0"/>
          </a:p>
        </p:txBody>
      </p:sp>
      <p:sp>
        <p:nvSpPr>
          <p:cNvPr id="17" name="Text 15"/>
          <p:cNvSpPr/>
          <p:nvPr/>
        </p:nvSpPr>
        <p:spPr>
          <a:xfrm>
            <a:off x="9689446" y="1850954"/>
            <a:ext cx="1601425" cy="22349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bounded, 2 × H</a:t>
            </a:r>
            <a:endParaRPr lang="en-US" sz="1200" dirty="0"/>
          </a:p>
        </p:txBody>
      </p:sp>
      <p:sp>
        <p:nvSpPr>
          <p:cNvPr id="18" name="Shape 16"/>
          <p:cNvSpPr/>
          <p:nvPr/>
        </p:nvSpPr>
        <p:spPr>
          <a:xfrm>
            <a:off x="9559902" y="3273357"/>
            <a:ext cx="1809713" cy="1187432"/>
          </a:xfrm>
          <a:prstGeom prst="roundRect">
            <a:avLst>
              <a:gd name="adj" fmla="val 5615"/>
            </a:avLst>
          </a:prstGeom>
          <a:solidFill>
            <a:srgbClr val="FFFFFF"/>
          </a:solidFill>
          <a:ln w="19050">
            <a:solidFill>
              <a:srgbClr val="2A62A8"/>
            </a:solidFill>
            <a:prstDash val="solid"/>
          </a:ln>
        </p:spPr>
      </p:sp>
      <p:sp>
        <p:nvSpPr>
          <p:cNvPr id="19" name="Text 17"/>
          <p:cNvSpPr/>
          <p:nvPr/>
        </p:nvSpPr>
        <p:spPr>
          <a:xfrm>
            <a:off x="9694276" y="3369614"/>
            <a:ext cx="1591764"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Hash workers × H</a:t>
            </a:r>
            <a:endParaRPr lang="en-US" sz="1400" dirty="0"/>
          </a:p>
        </p:txBody>
      </p:sp>
      <p:sp>
        <p:nvSpPr>
          <p:cNvPr id="20" name="Text 18"/>
          <p:cNvSpPr/>
          <p:nvPr/>
        </p:nvSpPr>
        <p:spPr>
          <a:xfrm>
            <a:off x="9694276" y="3633750"/>
            <a:ext cx="1591764"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shared by all nodes; H = CPUs × factor</a:t>
            </a:r>
            <a:endParaRPr lang="en-US" sz="1200" dirty="0"/>
          </a:p>
        </p:txBody>
      </p:sp>
      <p:sp>
        <p:nvSpPr>
          <p:cNvPr id="21" name="Shape 19"/>
          <p:cNvSpPr/>
          <p:nvPr/>
        </p:nvSpPr>
        <p:spPr>
          <a:xfrm>
            <a:off x="7372310" y="3270182"/>
            <a:ext cx="1765266" cy="1193782"/>
          </a:xfrm>
          <a:prstGeom prst="roundRect">
            <a:avLst>
              <a:gd name="adj" fmla="val 5851"/>
            </a:avLst>
          </a:prstGeom>
          <a:solidFill>
            <a:srgbClr val="FFFFFF"/>
          </a:solidFill>
          <a:ln w="12700">
            <a:solidFill>
              <a:srgbClr val="CFD6DE"/>
            </a:solidFill>
            <a:prstDash val="solid"/>
          </a:ln>
        </p:spPr>
      </p:sp>
      <p:sp>
        <p:nvSpPr>
          <p:cNvPr id="22" name="Text 20"/>
          <p:cNvSpPr/>
          <p:nvPr/>
        </p:nvSpPr>
        <p:spPr>
          <a:xfrm>
            <a:off x="7505029" y="3364784"/>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Results map</a:t>
            </a:r>
            <a:endParaRPr lang="en-US" sz="1400" dirty="0"/>
          </a:p>
        </p:txBody>
      </p:sp>
      <p:sp>
        <p:nvSpPr>
          <p:cNvPr id="23" name="Text 21"/>
          <p:cNvSpPr/>
          <p:nvPr/>
        </p:nvSpPr>
        <p:spPr>
          <a:xfrm>
            <a:off x="7505029" y="3628920"/>
            <a:ext cx="1550628"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hash per (block, node), kept in memory</a:t>
            </a:r>
            <a:endParaRPr lang="en-US" sz="1200" dirty="0"/>
          </a:p>
        </p:txBody>
      </p:sp>
      <p:sp>
        <p:nvSpPr>
          <p:cNvPr id="24" name="Shape 22"/>
          <p:cNvSpPr/>
          <p:nvPr/>
        </p:nvSpPr>
        <p:spPr>
          <a:xfrm>
            <a:off x="5191107" y="3273357"/>
            <a:ext cx="1758916" cy="1187432"/>
          </a:xfrm>
          <a:prstGeom prst="roundRect">
            <a:avLst>
              <a:gd name="adj" fmla="val 5615"/>
            </a:avLst>
          </a:prstGeom>
          <a:solidFill>
            <a:srgbClr val="FBF1E8"/>
          </a:solidFill>
          <a:ln w="19050">
            <a:solidFill>
              <a:srgbClr val="C4651A"/>
            </a:solidFill>
            <a:prstDash val="solid"/>
          </a:ln>
        </p:spPr>
      </p:sp>
      <p:sp>
        <p:nvSpPr>
          <p:cNvPr id="25" name="Text 23"/>
          <p:cNvSpPr/>
          <p:nvPr/>
        </p:nvSpPr>
        <p:spPr>
          <a:xfrm>
            <a:off x="5325482" y="3369614"/>
            <a:ext cx="1540967"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Barrier</a:t>
            </a:r>
            <a:endParaRPr lang="en-US" sz="1400" dirty="0"/>
          </a:p>
        </p:txBody>
      </p:sp>
      <p:sp>
        <p:nvSpPr>
          <p:cNvPr id="26" name="Text 24"/>
          <p:cNvSpPr/>
          <p:nvPr/>
        </p:nvSpPr>
        <p:spPr>
          <a:xfrm>
            <a:off x="5325482" y="3633750"/>
            <a:ext cx="1540967"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wait until every block is hashed on every node</a:t>
            </a:r>
            <a:endParaRPr lang="en-US" sz="1200" dirty="0"/>
          </a:p>
        </p:txBody>
      </p:sp>
      <p:sp>
        <p:nvSpPr>
          <p:cNvPr id="27" name="Shape 25"/>
          <p:cNvSpPr/>
          <p:nvPr/>
        </p:nvSpPr>
        <p:spPr>
          <a:xfrm>
            <a:off x="3003516" y="3270182"/>
            <a:ext cx="1765266" cy="1193782"/>
          </a:xfrm>
          <a:prstGeom prst="roundRect">
            <a:avLst>
              <a:gd name="adj" fmla="val 5851"/>
            </a:avLst>
          </a:prstGeom>
          <a:solidFill>
            <a:srgbClr val="FFFFFF"/>
          </a:solidFill>
          <a:ln w="12700">
            <a:solidFill>
              <a:srgbClr val="CFD6DE"/>
            </a:solidFill>
            <a:prstDash val="solid"/>
          </a:ln>
        </p:spPr>
      </p:sp>
      <p:sp>
        <p:nvSpPr>
          <p:cNvPr id="28" name="Text 26"/>
          <p:cNvSpPr/>
          <p:nvPr/>
        </p:nvSpPr>
        <p:spPr>
          <a:xfrm>
            <a:off x="3136235" y="3364784"/>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Compare</a:t>
            </a:r>
            <a:endParaRPr lang="en-US" sz="1400" dirty="0"/>
          </a:p>
        </p:txBody>
      </p:sp>
      <p:sp>
        <p:nvSpPr>
          <p:cNvPr id="29" name="Text 27"/>
          <p:cNvSpPr/>
          <p:nvPr/>
        </p:nvSpPr>
        <p:spPr>
          <a:xfrm>
            <a:off x="3136235" y="3628920"/>
            <a:ext cx="1550628"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in (part, seq) order, for each node pair</a:t>
            </a:r>
            <a:endParaRPr lang="en-US" sz="1200" dirty="0"/>
          </a:p>
        </p:txBody>
      </p:sp>
      <p:sp>
        <p:nvSpPr>
          <p:cNvPr id="30" name="Shape 28"/>
          <p:cNvSpPr/>
          <p:nvPr/>
        </p:nvSpPr>
        <p:spPr>
          <a:xfrm>
            <a:off x="819138" y="3270182"/>
            <a:ext cx="1765266" cy="1193782"/>
          </a:xfrm>
          <a:prstGeom prst="roundRect">
            <a:avLst>
              <a:gd name="adj" fmla="val 5851"/>
            </a:avLst>
          </a:prstGeom>
          <a:solidFill>
            <a:srgbClr val="FFFFFF"/>
          </a:solidFill>
          <a:ln w="12700">
            <a:solidFill>
              <a:srgbClr val="CFD6DE"/>
            </a:solidFill>
            <a:prstDash val="solid"/>
          </a:ln>
        </p:spPr>
      </p:sp>
      <p:sp>
        <p:nvSpPr>
          <p:cNvPr id="31" name="Text 29"/>
          <p:cNvSpPr/>
          <p:nvPr/>
        </p:nvSpPr>
        <p:spPr>
          <a:xfrm>
            <a:off x="951856" y="3364784"/>
            <a:ext cx="1550628"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D2733"/>
                </a:solidFill>
                <a:latin typeface="IBM Plex Sans" pitchFamily="34" charset="0"/>
                <a:ea typeface="IBM Plex Sans" pitchFamily="34" charset="-122"/>
                <a:cs typeface="IBM Plex Sans" pitchFamily="34" charset="-120"/>
              </a:rPr>
              <a:t>Report</a:t>
            </a:r>
            <a:endParaRPr lang="en-US" sz="1400" dirty="0"/>
          </a:p>
        </p:txBody>
      </p:sp>
      <p:sp>
        <p:nvSpPr>
          <p:cNvPr id="32" name="Text 30"/>
          <p:cNvSpPr/>
          <p:nvPr/>
        </p:nvSpPr>
        <p:spPr>
          <a:xfrm>
            <a:off x="951856" y="3628920"/>
            <a:ext cx="1550628" cy="619678"/>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D2733"/>
                </a:solidFill>
                <a:latin typeface="IBM Plex Sans" pitchFamily="34" charset="0"/>
                <a:ea typeface="IBM Plex Sans" pitchFamily="34" charset="-122"/>
                <a:cs typeface="IBM Plex Sans" pitchFamily="34" charset="-120"/>
              </a:rPr>
              <a:t>diff rows kept in memory, written at the end</a:t>
            </a:r>
            <a:endParaRPr lang="en-US" sz="1200" dirty="0"/>
          </a:p>
        </p:txBody>
      </p:sp>
      <p:sp>
        <p:nvSpPr>
          <p:cNvPr id="33" name="Shape 31"/>
          <p:cNvSpPr/>
          <p:nvPr/>
        </p:nvSpPr>
        <p:spPr>
          <a:xfrm>
            <a:off x="812788" y="4914844"/>
            <a:ext cx="3301985" cy="1015975"/>
          </a:xfrm>
          <a:prstGeom prst="roundRect">
            <a:avLst>
              <a:gd name="adj" fmla="val 7500"/>
            </a:avLst>
          </a:prstGeom>
          <a:solidFill>
            <a:srgbClr val="1D2733"/>
          </a:solidFill>
          <a:ln/>
        </p:spPr>
      </p:sp>
      <p:sp>
        <p:nvSpPr>
          <p:cNvPr id="34" name="Text 32"/>
          <p:cNvSpPr/>
          <p:nvPr/>
        </p:nvSpPr>
        <p:spPr>
          <a:xfrm>
            <a:off x="939780" y="5003719"/>
            <a:ext cx="3139441"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Connections</a:t>
            </a:r>
            <a:endParaRPr lang="en-US" sz="1400" dirty="0"/>
          </a:p>
        </p:txBody>
      </p:sp>
      <p:sp>
        <p:nvSpPr>
          <p:cNvPr id="35" name="Text 33"/>
          <p:cNvSpPr/>
          <p:nvPr/>
        </p:nvSpPr>
        <p:spPr>
          <a:xfrm>
            <a:off x="939780" y="5267855"/>
            <a:ext cx="3139441"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pool per node = H + cutters, capped by max_connections</a:t>
            </a:r>
            <a:endParaRPr lang="en-US" sz="1200" dirty="0"/>
          </a:p>
        </p:txBody>
      </p:sp>
      <p:sp>
        <p:nvSpPr>
          <p:cNvPr id="36" name="Shape 34"/>
          <p:cNvSpPr/>
          <p:nvPr/>
        </p:nvSpPr>
        <p:spPr>
          <a:xfrm>
            <a:off x="4444952" y="4914844"/>
            <a:ext cx="3301985" cy="1015975"/>
          </a:xfrm>
          <a:prstGeom prst="roundRect">
            <a:avLst>
              <a:gd name="adj" fmla="val 7500"/>
            </a:avLst>
          </a:prstGeom>
          <a:solidFill>
            <a:srgbClr val="1D2733"/>
          </a:solidFill>
          <a:ln/>
        </p:spPr>
      </p:sp>
      <p:sp>
        <p:nvSpPr>
          <p:cNvPr id="37" name="Text 35"/>
          <p:cNvSpPr/>
          <p:nvPr/>
        </p:nvSpPr>
        <p:spPr>
          <a:xfrm>
            <a:off x="4571945" y="5003719"/>
            <a:ext cx="3139441"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After the cut</a:t>
            </a:r>
            <a:endParaRPr lang="en-US" sz="1400" dirty="0"/>
          </a:p>
        </p:txBody>
      </p:sp>
      <p:sp>
        <p:nvSpPr>
          <p:cNvPr id="38" name="Text 36"/>
          <p:cNvSpPr/>
          <p:nvPr/>
        </p:nvSpPr>
        <p:spPr>
          <a:xfrm>
            <a:off x="4571945" y="5267855"/>
            <a:ext cx="3139441" cy="223493"/>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cutters stop; their connections stay idle</a:t>
            </a:r>
            <a:endParaRPr lang="en-US" sz="1200" dirty="0"/>
          </a:p>
        </p:txBody>
      </p:sp>
      <p:sp>
        <p:nvSpPr>
          <p:cNvPr id="39" name="Shape 37"/>
          <p:cNvSpPr/>
          <p:nvPr/>
        </p:nvSpPr>
        <p:spPr>
          <a:xfrm>
            <a:off x="8077155" y="4914844"/>
            <a:ext cx="3301985" cy="1015975"/>
          </a:xfrm>
          <a:prstGeom prst="roundRect">
            <a:avLst>
              <a:gd name="adj" fmla="val 7500"/>
            </a:avLst>
          </a:prstGeom>
          <a:solidFill>
            <a:srgbClr val="1D2733"/>
          </a:solidFill>
          <a:ln/>
        </p:spPr>
      </p:sp>
      <p:sp>
        <p:nvSpPr>
          <p:cNvPr id="40" name="Text 38"/>
          <p:cNvSpPr/>
          <p:nvPr/>
        </p:nvSpPr>
        <p:spPr>
          <a:xfrm>
            <a:off x="8204147" y="5003719"/>
            <a:ext cx="3139441" cy="238739"/>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F4EF"/>
                </a:solidFill>
                <a:latin typeface="IBM Plex Sans" pitchFamily="34" charset="0"/>
                <a:ea typeface="IBM Plex Sans" pitchFamily="34" charset="-122"/>
                <a:cs typeface="IBM Plex Sans" pitchFamily="34" charset="-120"/>
              </a:rPr>
              <a:t>Snapshot</a:t>
            </a:r>
            <a:endParaRPr lang="en-US" sz="1400" dirty="0"/>
          </a:p>
        </p:txBody>
      </p:sp>
      <p:sp>
        <p:nvSpPr>
          <p:cNvPr id="41" name="Text 39"/>
          <p:cNvSpPr/>
          <p:nvPr/>
        </p:nvSpPr>
        <p:spPr>
          <a:xfrm>
            <a:off x="8204147" y="5267855"/>
            <a:ext cx="3139441" cy="42158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C9D3DE"/>
                </a:solidFill>
                <a:latin typeface="IBM Plex Sans" pitchFamily="34" charset="0"/>
                <a:ea typeface="IBM Plex Sans" pitchFamily="34" charset="-122"/>
                <a:cs typeface="IBM Plex Sans" pitchFamily="34" charset="-120"/>
              </a:rPr>
              <a:t>none in common; coverage holds by key ranges, not checked</a:t>
            </a:r>
            <a:endParaRPr lang="en-US" sz="1200" dirty="0"/>
          </a:p>
        </p:txBody>
      </p:sp>
      <p:pic>
        <p:nvPicPr>
          <p:cNvPr id="42" name="Image 0" descr="connector">    </p:cNvPr>
          <p:cNvPicPr>
            <a:picLocks noChangeAspect="1"/>
          </p:cNvPicPr>
          <p:nvPr/>
        </p:nvPicPr>
        <p:blipFill>
          <a:blip r:embed="rId1"/>
          <a:srcRect l="0" r="0" t="0" b="0"/>
          <a:stretch/>
        </p:blipFill>
        <p:spPr>
          <a:xfrm>
            <a:off x="2539957" y="2038291"/>
            <a:ext cx="507969" cy="101594"/>
          </a:xfrm>
          <a:prstGeom prst="rect">
            <a:avLst/>
          </a:prstGeom>
        </p:spPr>
      </p:pic>
      <p:pic>
        <p:nvPicPr>
          <p:cNvPr id="43" name="Image 1" descr="connector">    </p:cNvPr>
          <p:cNvPicPr>
            <a:picLocks noChangeAspect="1"/>
          </p:cNvPicPr>
          <p:nvPr/>
        </p:nvPicPr>
        <p:blipFill>
          <a:blip r:embed="rId2"/>
          <a:srcRect l="0" r="0" t="0" b="0"/>
          <a:stretch/>
        </p:blipFill>
        <p:spPr>
          <a:xfrm>
            <a:off x="4724373" y="2038291"/>
            <a:ext cx="507969" cy="101594"/>
          </a:xfrm>
          <a:prstGeom prst="rect">
            <a:avLst/>
          </a:prstGeom>
        </p:spPr>
      </p:pic>
      <p:pic>
        <p:nvPicPr>
          <p:cNvPr id="44" name="Image 2" descr="connector">    </p:cNvPr>
          <p:cNvPicPr>
            <a:picLocks noChangeAspect="1"/>
          </p:cNvPicPr>
          <p:nvPr/>
        </p:nvPicPr>
        <p:blipFill>
          <a:blip r:embed="rId3"/>
          <a:srcRect l="0" r="0" t="0" b="0"/>
          <a:stretch/>
        </p:blipFill>
        <p:spPr>
          <a:xfrm>
            <a:off x="6908751" y="2038291"/>
            <a:ext cx="507969" cy="101594"/>
          </a:xfrm>
          <a:prstGeom prst="rect">
            <a:avLst/>
          </a:prstGeom>
        </p:spPr>
      </p:pic>
      <p:pic>
        <p:nvPicPr>
          <p:cNvPr id="45" name="Image 3" descr="connector">    </p:cNvPr>
          <p:cNvPicPr>
            <a:picLocks noChangeAspect="1"/>
          </p:cNvPicPr>
          <p:nvPr/>
        </p:nvPicPr>
        <p:blipFill>
          <a:blip r:embed="rId4"/>
          <a:srcRect l="0" r="0" t="0" b="0"/>
          <a:stretch/>
        </p:blipFill>
        <p:spPr>
          <a:xfrm>
            <a:off x="9093167" y="2038291"/>
            <a:ext cx="507969" cy="101594"/>
          </a:xfrm>
          <a:prstGeom prst="rect">
            <a:avLst/>
          </a:prstGeom>
        </p:spPr>
      </p:pic>
      <p:pic>
        <p:nvPicPr>
          <p:cNvPr id="46" name="Image 4" descr="connector">    </p:cNvPr>
          <p:cNvPicPr>
            <a:picLocks noChangeAspect="1"/>
          </p:cNvPicPr>
          <p:nvPr/>
        </p:nvPicPr>
        <p:blipFill>
          <a:blip r:embed="rId5"/>
          <a:srcRect l="0" r="0" t="-1" b="-1"/>
          <a:stretch/>
        </p:blipFill>
        <p:spPr>
          <a:xfrm>
            <a:off x="10413961" y="2641550"/>
            <a:ext cx="101594" cy="673077"/>
          </a:xfrm>
          <a:prstGeom prst="rect">
            <a:avLst/>
          </a:prstGeom>
        </p:spPr>
      </p:pic>
      <p:pic>
        <p:nvPicPr>
          <p:cNvPr id="47" name="Image 5" descr="connector">    </p:cNvPr>
          <p:cNvPicPr>
            <a:picLocks noChangeAspect="1"/>
          </p:cNvPicPr>
          <p:nvPr/>
        </p:nvPicPr>
        <p:blipFill>
          <a:blip r:embed="rId6"/>
          <a:srcRect l="0" r="0" t="0" b="0"/>
          <a:stretch/>
        </p:blipFill>
        <p:spPr>
          <a:xfrm>
            <a:off x="9093167" y="3816294"/>
            <a:ext cx="507969" cy="101594"/>
          </a:xfrm>
          <a:prstGeom prst="rect">
            <a:avLst/>
          </a:prstGeom>
        </p:spPr>
      </p:pic>
      <p:pic>
        <p:nvPicPr>
          <p:cNvPr id="48" name="Image 6" descr="connector">    </p:cNvPr>
          <p:cNvPicPr>
            <a:picLocks noChangeAspect="1"/>
          </p:cNvPicPr>
          <p:nvPr/>
        </p:nvPicPr>
        <p:blipFill>
          <a:blip r:embed="rId7"/>
          <a:srcRect l="0" r="0" t="0" b="0"/>
          <a:stretch/>
        </p:blipFill>
        <p:spPr>
          <a:xfrm>
            <a:off x="6908751" y="3816294"/>
            <a:ext cx="507969" cy="101594"/>
          </a:xfrm>
          <a:prstGeom prst="rect">
            <a:avLst/>
          </a:prstGeom>
        </p:spPr>
      </p:pic>
      <p:pic>
        <p:nvPicPr>
          <p:cNvPr id="49" name="Image 7" descr="connector">    </p:cNvPr>
          <p:cNvPicPr>
            <a:picLocks noChangeAspect="1"/>
          </p:cNvPicPr>
          <p:nvPr/>
        </p:nvPicPr>
        <p:blipFill>
          <a:blip r:embed="rId8"/>
          <a:srcRect l="0" r="0" t="0" b="0"/>
          <a:stretch/>
        </p:blipFill>
        <p:spPr>
          <a:xfrm>
            <a:off x="4724373" y="3816294"/>
            <a:ext cx="507969" cy="101594"/>
          </a:xfrm>
          <a:prstGeom prst="rect">
            <a:avLst/>
          </a:prstGeom>
        </p:spPr>
      </p:pic>
      <p:pic>
        <p:nvPicPr>
          <p:cNvPr id="50" name="Image 8" descr="connector">    </p:cNvPr>
          <p:cNvPicPr>
            <a:picLocks noChangeAspect="1"/>
          </p:cNvPicPr>
          <p:nvPr/>
        </p:nvPicPr>
        <p:blipFill>
          <a:blip r:embed="rId9"/>
          <a:srcRect l="0" r="0" t="0" b="0"/>
          <a:stretch/>
        </p:blipFill>
        <p:spPr>
          <a:xfrm>
            <a:off x="2539957" y="3816294"/>
            <a:ext cx="507969" cy="1015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CEAE3"/>
        </a:solidFill>
      </p:bgPr>
    </p:bg>
    <p:spTree>
      <p:nvGrpSpPr>
        <p:cNvPr id="1" name=""/>
        <p:cNvGrpSpPr/>
        <p:nvPr/>
      </p:nvGrpSpPr>
      <p:grpSpPr>
        <a:xfrm>
          <a:off x="0" y="0"/>
          <a:ext cx="0" cy="0"/>
          <a:chOff x="0" y="0"/>
          <a:chExt cx="0" cy="0"/>
        </a:xfrm>
      </p:grpSpPr>
      <p:sp>
        <p:nvSpPr>
          <p:cNvPr id="2" name="Text 0"/>
          <p:cNvSpPr/>
          <p:nvPr>
            <p:ph type="title"/>
          </p:nvPr>
        </p:nvSpPr>
        <p:spPr>
          <a:xfrm>
            <a:off x="812788" y="812788"/>
            <a:ext cx="10883382" cy="444493"/>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D2733"/>
                </a:solidFill>
                <a:latin typeface="IBM Plex Sans" pitchFamily="34" charset="0"/>
                <a:ea typeface="IBM Plex Sans" pitchFamily="34" charset="-122"/>
                <a:cs typeface="IBM Plex Sans" pitchFamily="34" charset="-120"/>
              </a:rPr>
              <a:t>New method against the current one</a:t>
            </a:r>
            <a:endParaRPr lang="en-US" sz="3000" dirty="0"/>
          </a:p>
        </p:txBody>
      </p:sp>
      <p:sp>
        <p:nvSpPr>
          <p:cNvPr id="3" name="Shape 1"/>
          <p:cNvSpPr/>
          <p:nvPr/>
        </p:nvSpPr>
        <p:spPr>
          <a:xfrm>
            <a:off x="819138" y="1492213"/>
            <a:ext cx="5118085" cy="4343452"/>
          </a:xfrm>
          <a:prstGeom prst="roundRect">
            <a:avLst>
              <a:gd name="adj" fmla="val 2193"/>
            </a:avLst>
          </a:prstGeom>
          <a:solidFill>
            <a:srgbClr val="FFFFFF"/>
          </a:solidFill>
          <a:ln w="12700">
            <a:solidFill>
              <a:srgbClr val="CFD6DE"/>
            </a:solidFill>
            <a:prstDash val="solid"/>
          </a:ln>
        </p:spPr>
      </p:sp>
      <p:sp>
        <p:nvSpPr>
          <p:cNvPr id="4" name="Text 2"/>
          <p:cNvSpPr/>
          <p:nvPr/>
        </p:nvSpPr>
        <p:spPr>
          <a:xfrm>
            <a:off x="1078848" y="1726527"/>
            <a:ext cx="4736624"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A62A8"/>
                </a:solidFill>
                <a:latin typeface="IBM Plex Sans" pitchFamily="34" charset="0"/>
                <a:ea typeface="IBM Plex Sans" pitchFamily="34" charset="-122"/>
                <a:cs typeface="IBM Plex Sans" pitchFamily="34" charset="-120"/>
              </a:rPr>
              <a:t>Better</a:t>
            </a:r>
            <a:endParaRPr lang="en-US" sz="1600" dirty="0"/>
          </a:p>
        </p:txBody>
      </p:sp>
      <p:sp>
        <p:nvSpPr>
          <p:cNvPr id="5" name="Text 3"/>
          <p:cNvSpPr/>
          <p:nvPr/>
        </p:nvSpPr>
        <p:spPr>
          <a:xfrm>
            <a:off x="1164192" y="2097314"/>
            <a:ext cx="4643660" cy="2700048"/>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Exact coverage:</a:t>
            </a:r>
            <a:r>
              <a:rPr lang="en-US" sz="1300" dirty="0">
                <a:solidFill>
                  <a:srgbClr val="1D2733"/>
                </a:solidFill>
                <a:latin typeface="IBM Plex Sans" pitchFamily="34" charset="0"/>
                <a:ea typeface="IBM Plex Sans" pitchFamily="34" charset="-122"/>
                <a:cs typeface="IBM Plex Sans" pitchFamily="34" charset="-120"/>
              </a:rPr>
              <a:t> one snapshot per instance, every row in one block; a cheap check by row counts.</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No barrier:</a:t>
            </a:r>
            <a:r>
              <a:rPr lang="en-US" sz="1300" dirty="0">
                <a:solidFill>
                  <a:srgbClr val="1D2733"/>
                </a:solidFill>
                <a:latin typeface="IBM Plex Sans" pitchFamily="34" charset="0"/>
                <a:ea typeface="IBM Plex Sans" pitchFamily="34" charset="-122"/>
                <a:cs typeface="IBM Plex Sans" pitchFamily="34" charset="-120"/>
              </a:rPr>
              <a:t> a block is compared as soon as all instances hash it; diffs go to files, not memory.</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No idle connections:</a:t>
            </a:r>
            <a:r>
              <a:rPr lang="en-US" sz="1300" dirty="0">
                <a:solidFill>
                  <a:srgbClr val="1D2733"/>
                </a:solidFill>
                <a:latin typeface="IBM Plex Sans" pitchFamily="34" charset="0"/>
                <a:ea typeface="IBM Plex Sans" pitchFamily="34" charset="-122"/>
                <a:cs typeface="IBM Plex Sans" pitchFamily="34" charset="-120"/>
              </a:rPr>
              <a:t> slicers become workers after the cut.</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Parallelism per instance:</a:t>
            </a:r>
            <a:r>
              <a:rPr lang="en-US" sz="1300" dirty="0">
                <a:solidFill>
                  <a:srgbClr val="1D2733"/>
                </a:solidFill>
                <a:latin typeface="IBM Plex Sans" pitchFamily="34" charset="0"/>
                <a:ea typeface="IBM Plex Sans" pitchFamily="34" charset="-122"/>
                <a:cs typeface="IBM Plex Sans" pitchFamily="34" charset="-120"/>
              </a:rPr>
              <a:t> N is a server limit, not client CPUs × factor.</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Skew evens out:</a:t>
            </a:r>
            <a:r>
              <a:rPr lang="en-US" sz="1300" dirty="0">
                <a:solidFill>
                  <a:srgbClr val="1D2733"/>
                </a:solidFill>
                <a:latin typeface="IBM Plex Sans" pitchFamily="34" charset="0"/>
                <a:ea typeface="IBM Plex Sans" pitchFamily="34" charset="-122"/>
                <a:cs typeface="IBM Plex Sans" pitchFamily="34" charset="-120"/>
              </a:rPr>
              <a:t> one shared queue, any worker takes the next block.</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Block errors are retried</a:t>
            </a:r>
            <a:r>
              <a:rPr lang="en-US" sz="1300" dirty="0">
                <a:solidFill>
                  <a:srgbClr val="1D2733"/>
                </a:solidFill>
                <a:latin typeface="IBM Plex Sans" pitchFamily="34" charset="0"/>
                <a:ea typeface="IBM Plex Sans" pitchFamily="34" charset="-122"/>
                <a:cs typeface="IBM Plex Sans" pitchFamily="34" charset="-120"/>
              </a:rPr>
              <a:t> in the same snapshot; main stops the run on any error.</a:t>
            </a:r>
            <a:endParaRPr lang="en-US" sz="1300" dirty="0"/>
          </a:p>
        </p:txBody>
      </p:sp>
      <p:sp>
        <p:nvSpPr>
          <p:cNvPr id="6" name="Shape 4"/>
          <p:cNvSpPr/>
          <p:nvPr/>
        </p:nvSpPr>
        <p:spPr>
          <a:xfrm>
            <a:off x="6254704" y="1492213"/>
            <a:ext cx="5118123" cy="4343452"/>
          </a:xfrm>
          <a:prstGeom prst="roundRect">
            <a:avLst>
              <a:gd name="adj" fmla="val 2193"/>
            </a:avLst>
          </a:prstGeom>
          <a:solidFill>
            <a:srgbClr val="FFFFFF"/>
          </a:solidFill>
          <a:ln w="12700">
            <a:solidFill>
              <a:srgbClr val="CFD6DE"/>
            </a:solidFill>
            <a:prstDash val="solid"/>
          </a:ln>
        </p:spPr>
      </p:sp>
      <p:sp>
        <p:nvSpPr>
          <p:cNvPr id="7" name="Text 5"/>
          <p:cNvSpPr/>
          <p:nvPr/>
        </p:nvSpPr>
        <p:spPr>
          <a:xfrm>
            <a:off x="6514415" y="1726527"/>
            <a:ext cx="4736663" cy="269195"/>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4520F"/>
                </a:solidFill>
                <a:latin typeface="IBM Plex Sans" pitchFamily="34" charset="0"/>
                <a:ea typeface="IBM Plex Sans" pitchFamily="34" charset="-122"/>
                <a:cs typeface="IBM Plex Sans" pitchFamily="34" charset="-120"/>
              </a:rPr>
              <a:t>Worse</a:t>
            </a:r>
            <a:endParaRPr lang="en-US" sz="1600" dirty="0"/>
          </a:p>
        </p:txBody>
      </p:sp>
      <p:sp>
        <p:nvSpPr>
          <p:cNvPr id="8" name="Text 6"/>
          <p:cNvSpPr/>
          <p:nvPr/>
        </p:nvSpPr>
        <p:spPr>
          <a:xfrm>
            <a:off x="6599759" y="2097314"/>
            <a:ext cx="4643699" cy="2031386"/>
          </a:xfrm>
          <a:prstGeom prst="rect">
            <a:avLst/>
          </a:prstGeom>
          <a:noFill/>
          <a:ln/>
        </p:spPr>
        <p:txBody>
          <a:bodyPr wrap="square" lIns="0" tIns="0" rIns="0" bIns="0" rtlCol="0" anchor="t">
            <a:normAutofit/>
          </a:bodyPr>
          <a:lstStyle/>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Vacuum horizon is held</a:t>
            </a:r>
            <a:r>
              <a:rPr lang="en-US" sz="1300" dirty="0">
                <a:solidFill>
                  <a:srgbClr val="1D2733"/>
                </a:solidFill>
                <a:latin typeface="IBM Plex Sans" pitchFamily="34" charset="0"/>
                <a:ea typeface="IBM Plex Sans" pitchFamily="34" charset="-122"/>
                <a:cs typeface="IBM Plex Sans" pitchFamily="34" charset="-120"/>
              </a:rPr>
              <a:t> for the whole run (minutes on hundreds of GB). On a standby a long snapshot conflicts with recovery.</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A block waits for its slowest instance.</a:t>
            </a:r>
            <a:r>
              <a:rPr lang="en-US" sz="1300" dirty="0">
                <a:solidFill>
                  <a:srgbClr val="1D2733"/>
                </a:solidFill>
                <a:latin typeface="IBM Plex Sans" pitchFamily="34" charset="0"/>
                <a:ea typeface="IBM Plex Sans" pitchFamily="34" charset="-122"/>
                <a:cs typeface="IBM Plex Sans" pitchFamily="34" charset="-120"/>
              </a:rPr>
              <a:t> Main avoids it with per-(block, node) tasks, but pays with the barrier and an O(blocks) map.</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One bin means one slicer;</a:t>
            </a:r>
            <a:r>
              <a:rPr lang="en-US" sz="1300" dirty="0">
                <a:solidFill>
                  <a:srgbClr val="1D2733"/>
                </a:solidFill>
                <a:latin typeface="IBM Plex Sans" pitchFamily="34" charset="0"/>
                <a:ea typeface="IBM Plex Sans" pitchFamily="34" charset="-122"/>
                <a:cs typeface="IBM Plex Sans" pitchFamily="34" charset="-120"/>
              </a:rPr>
              <a:t> it may limit speed at large N. Main has the same limit with one part.</a:t>
            </a:r>
            <a:endParaRPr lang="en-US" sz="1300" dirty="0"/>
          </a:p>
          <a:p>
            <a:pPr algn="l" marL="168656" indent="-168656">
              <a:lnSpc>
                <a:spcPts val="1755"/>
              </a:lnSpc>
              <a:buSzPct val="100000"/>
              <a:buChar char="•"/>
            </a:pPr>
            <a:r>
              <a:rPr lang="en-US" sz="1300" b="1" dirty="0">
                <a:solidFill>
                  <a:srgbClr val="1D2733"/>
                </a:solidFill>
                <a:latin typeface="IBM Plex Sans" pitchFamily="34" charset="0"/>
                <a:ea typeface="IBM Plex Sans" pitchFamily="34" charset="-122"/>
                <a:cs typeface="IBM Plex Sans" pitchFamily="34" charset="-120"/>
              </a:rPr>
              <a:t>Many files:</a:t>
            </a:r>
            <a:r>
              <a:rPr lang="en-US" sz="1300" dirty="0">
                <a:solidFill>
                  <a:srgbClr val="1D2733"/>
                </a:solidFill>
                <a:latin typeface="IBM Plex Sans" pitchFamily="34" charset="0"/>
                <a:ea typeface="IBM Plex Sans" pitchFamily="34" charset="-122"/>
                <a:cs typeface="IBM Plex Sans" pitchFamily="34" charset="-120"/>
              </a:rPr>
              <a:t> one per mismatched block (accepted).</a:t>
            </a:r>
            <a:endParaRPr lang="en-US" sz="1300" dirty="0"/>
          </a:p>
        </p:txBody>
      </p:sp>
      <p:sp>
        <p:nvSpPr>
          <p:cNvPr id="9" name="Text 7"/>
          <p:cNvSpPr/>
          <p:nvPr/>
        </p:nvSpPr>
        <p:spPr>
          <a:xfrm>
            <a:off x="812788" y="6024938"/>
            <a:ext cx="10883382" cy="452079"/>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IBM Plex Sans" pitchFamily="34" charset="0"/>
                <a:ea typeface="IBM Plex Sans" pitchFamily="34" charset="-122"/>
                <a:cs typeface="IBM Plex Sans" pitchFamily="34" charset="-120"/>
              </a:rPr>
              <a:t>Not worse than main: restart on snapshot loss (main stops on any error), equal N (main pools are equal too), memory (main keeps every block and hash until the barrier).</a:t>
            </a:r>
            <a:endParaRPr lang="en-US" sz="1200" dirty="0"/>
          </a:p>
        </p:txBody>
      </p:sp>
    </p:spTree>
  </p:cSld>
  <p:clrMapOvr>
    <a:masterClrMapping/>
  </p:clrMapOvr>
</p:sld>
</file>

<file path=ppt/theme/theme1.xml><?xml version="1.0" encoding="utf-8"?>
<a:theme xmlns:a="http://schemas.openxmlformats.org/drawingml/2006/main" name="Parallel Block Hashing">
  <a:themeElements>
    <a:clrScheme name="Parallel Block Hashing">
      <a:dk1>
        <a:srgbClr val="1D2733"/>
      </a:dk1>
      <a:lt1>
        <a:srgbClr val="F5F4EF"/>
      </a:lt1>
      <a:dk2>
        <a:srgbClr val="535A62"/>
      </a:dk2>
      <a:lt2>
        <a:srgbClr val="DFE0DC"/>
      </a:lt2>
      <a:accent1>
        <a:srgbClr val="2A62A8"/>
      </a:accent1>
      <a:accent2>
        <a:srgbClr val="E6A066"/>
      </a:accent2>
      <a:accent3>
        <a:srgbClr val="A4520F"/>
      </a:accent3>
      <a:accent4>
        <a:srgbClr val="C9D3DE"/>
      </a:accent4>
      <a:accent5>
        <a:srgbClr val="5B6672"/>
      </a:accent5>
      <a:accent6>
        <a:srgbClr val="9AA0A6"/>
      </a:accent6>
      <a:hlink>
        <a:srgbClr val="0563C1"/>
      </a:hlink>
      <a:folHlink>
        <a:srgbClr val="954F72"/>
      </a:folHlink>
    </a:clrScheme>
    <a:fontScheme name="Parallel Block Hashing">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Block Hashing</dc:title>
  <dc:subject/>
  <dc:creator/>
  <cp:lastModifiedBy/>
  <cp:revision>1</cp:revision>
  <dcterms:created xsi:type="dcterms:W3CDTF">2026-10-26T15:55:15Z</dcterms:created>
  <dcterms:modified xsi:type="dcterms:W3CDTF">2026-10-26T15:55:15Z</dcterms:modified>
</cp:coreProperties>
</file>